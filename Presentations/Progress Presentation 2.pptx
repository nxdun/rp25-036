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98" r:id="rId5"/>
    <p:sldId id="294" r:id="rId6"/>
    <p:sldId id="295" r:id="rId7"/>
    <p:sldId id="296" r:id="rId8"/>
    <p:sldId id="299" r:id="rId9"/>
    <p:sldId id="418" r:id="rId10"/>
    <p:sldId id="345" r:id="rId11"/>
    <p:sldId id="425" r:id="rId12"/>
    <p:sldId id="419" r:id="rId13"/>
    <p:sldId id="434" r:id="rId14"/>
    <p:sldId id="435" r:id="rId15"/>
    <p:sldId id="297" r:id="rId16"/>
    <p:sldId id="347" r:id="rId17"/>
    <p:sldId id="304" r:id="rId18"/>
    <p:sldId id="355" r:id="rId19"/>
    <p:sldId id="300" r:id="rId20"/>
    <p:sldId id="359" r:id="rId21"/>
    <p:sldId id="361" r:id="rId22"/>
    <p:sldId id="416" r:id="rId23"/>
    <p:sldId id="432" r:id="rId24"/>
    <p:sldId id="308" r:id="rId25"/>
    <p:sldId id="41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A4CB4-2662-E450-206E-FD381D93EF52}" v="5" dt="2025-07-28T16:24:15.118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C90B69-373D-45B6-8DC9-5548A414A5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581C54-032F-430B-A4C2-E6FFFF171080}">
      <dgm:prSet/>
      <dgm:spPr/>
      <dgm:t>
        <a:bodyPr/>
        <a:lstStyle/>
        <a:p>
          <a:r>
            <a:rPr lang="en-GB" b="0" i="0"/>
            <a:t>Generation of hallucinated or irrelevant responses by LLMs.</a:t>
          </a:r>
          <a:endParaRPr lang="en-US"/>
        </a:p>
      </dgm:t>
    </dgm:pt>
    <dgm:pt modelId="{3B26E070-71DB-44C0-AD8B-99EBB7D1335B}" type="parTrans" cxnId="{48D521D1-9BA3-46B7-B19E-0DCC71108ECD}">
      <dgm:prSet/>
      <dgm:spPr/>
      <dgm:t>
        <a:bodyPr/>
        <a:lstStyle/>
        <a:p>
          <a:endParaRPr lang="en-US"/>
        </a:p>
      </dgm:t>
    </dgm:pt>
    <dgm:pt modelId="{F6B6429D-D389-4130-AB05-42C0ECFDF540}" type="sibTrans" cxnId="{48D521D1-9BA3-46B7-B19E-0DCC71108ECD}">
      <dgm:prSet/>
      <dgm:spPr/>
      <dgm:t>
        <a:bodyPr/>
        <a:lstStyle/>
        <a:p>
          <a:endParaRPr lang="en-US"/>
        </a:p>
      </dgm:t>
    </dgm:pt>
    <dgm:pt modelId="{C2C0C203-9D25-465D-8600-643AB7BEA7F3}">
      <dgm:prSet/>
      <dgm:spPr/>
      <dgm:t>
        <a:bodyPr/>
        <a:lstStyle/>
        <a:p>
          <a:r>
            <a:rPr lang="en-GB"/>
            <a:t>Lack of personalization and not having efficient memory management</a:t>
          </a:r>
          <a:endParaRPr lang="en-US"/>
        </a:p>
      </dgm:t>
    </dgm:pt>
    <dgm:pt modelId="{3CE290D2-6D04-4ADC-84D6-8C49FADA08EB}" type="parTrans" cxnId="{AE236489-9A59-4B5F-A9F0-742E12435892}">
      <dgm:prSet/>
      <dgm:spPr/>
      <dgm:t>
        <a:bodyPr/>
        <a:lstStyle/>
        <a:p>
          <a:endParaRPr lang="en-US"/>
        </a:p>
      </dgm:t>
    </dgm:pt>
    <dgm:pt modelId="{AEBCB202-F678-42C4-A884-AC8A7C28ABC6}" type="sibTrans" cxnId="{AE236489-9A59-4B5F-A9F0-742E12435892}">
      <dgm:prSet/>
      <dgm:spPr/>
      <dgm:t>
        <a:bodyPr/>
        <a:lstStyle/>
        <a:p>
          <a:endParaRPr lang="en-US"/>
        </a:p>
      </dgm:t>
    </dgm:pt>
    <dgm:pt modelId="{EF655EB4-0714-46A4-88F9-3A0C82A6E07F}">
      <dgm:prSet/>
      <dgm:spPr/>
      <dgm:t>
        <a:bodyPr/>
        <a:lstStyle/>
        <a:p>
          <a:r>
            <a:rPr lang="en-GB" b="0" i="0" u="none"/>
            <a:t>Challenges in identifying domain-specific data, managing unwanted data, and preventing duplication.</a:t>
          </a:r>
          <a:endParaRPr lang="en-US"/>
        </a:p>
      </dgm:t>
    </dgm:pt>
    <dgm:pt modelId="{F7F0A1B9-77BB-4990-BC04-60B83BA8095A}" type="parTrans" cxnId="{7339B7F8-7A9E-49A1-ACA1-1200BDFC1597}">
      <dgm:prSet/>
      <dgm:spPr/>
      <dgm:t>
        <a:bodyPr/>
        <a:lstStyle/>
        <a:p>
          <a:endParaRPr lang="en-US"/>
        </a:p>
      </dgm:t>
    </dgm:pt>
    <dgm:pt modelId="{E166123E-67BA-4957-A265-D63A8CF70D1A}" type="sibTrans" cxnId="{7339B7F8-7A9E-49A1-ACA1-1200BDFC1597}">
      <dgm:prSet/>
      <dgm:spPr/>
      <dgm:t>
        <a:bodyPr/>
        <a:lstStyle/>
        <a:p>
          <a:endParaRPr lang="en-US"/>
        </a:p>
      </dgm:t>
    </dgm:pt>
    <dgm:pt modelId="{64EAC758-E76E-A242-B53D-FCA992507B68}">
      <dgm:prSet/>
      <dgm:spPr/>
      <dgm:t>
        <a:bodyPr/>
        <a:lstStyle/>
        <a:p>
          <a:r>
            <a:rPr lang="en-GB" b="0" i="0" u="none"/>
            <a:t>Difficulties in managing RAG systems and dynamically processing knowledge bases in vector databases.</a:t>
          </a:r>
          <a:endParaRPr lang="en-US"/>
        </a:p>
      </dgm:t>
    </dgm:pt>
    <dgm:pt modelId="{6FD74410-D1D8-984B-81C2-5B1BBB93757D}" type="parTrans" cxnId="{673376E9-F220-1E4E-8EC0-A01ACB4934AE}">
      <dgm:prSet/>
      <dgm:spPr/>
      <dgm:t>
        <a:bodyPr/>
        <a:lstStyle/>
        <a:p>
          <a:endParaRPr lang="en-GB"/>
        </a:p>
      </dgm:t>
    </dgm:pt>
    <dgm:pt modelId="{CFA309D6-A145-9D44-B4ED-DAEEE52E8E18}" type="sibTrans" cxnId="{673376E9-F220-1E4E-8EC0-A01ACB4934AE}">
      <dgm:prSet/>
      <dgm:spPr/>
      <dgm:t>
        <a:bodyPr/>
        <a:lstStyle/>
        <a:p>
          <a:endParaRPr lang="en-GB"/>
        </a:p>
      </dgm:t>
    </dgm:pt>
    <dgm:pt modelId="{496BABDF-FB3A-D742-82D4-ED33D22D3B9D}" type="pres">
      <dgm:prSet presAssocID="{4FC90B69-373D-45B6-8DC9-5548A414A5A4}" presName="linear" presStyleCnt="0">
        <dgm:presLayoutVars>
          <dgm:animLvl val="lvl"/>
          <dgm:resizeHandles val="exact"/>
        </dgm:presLayoutVars>
      </dgm:prSet>
      <dgm:spPr/>
    </dgm:pt>
    <dgm:pt modelId="{90619467-9FB6-A444-9F3F-82B4C04A9944}" type="pres">
      <dgm:prSet presAssocID="{10581C54-032F-430B-A4C2-E6FFFF17108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322C571-B28A-E449-8CE3-17F4E28A38E4}" type="pres">
      <dgm:prSet presAssocID="{F6B6429D-D389-4130-AB05-42C0ECFDF540}" presName="spacer" presStyleCnt="0"/>
      <dgm:spPr/>
    </dgm:pt>
    <dgm:pt modelId="{350329C5-3165-9645-977E-EEB773C8E06A}" type="pres">
      <dgm:prSet presAssocID="{C2C0C203-9D25-465D-8600-643AB7BEA7F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A60BE25-C379-6446-ADFF-09FCE6596434}" type="pres">
      <dgm:prSet presAssocID="{AEBCB202-F678-42C4-A884-AC8A7C28ABC6}" presName="spacer" presStyleCnt="0"/>
      <dgm:spPr/>
    </dgm:pt>
    <dgm:pt modelId="{0BDAF35B-010C-E842-A53F-D7D9F7624262}" type="pres">
      <dgm:prSet presAssocID="{64EAC758-E76E-A242-B53D-FCA992507B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681F67-D305-5144-9AF0-BC93F98A1533}" type="pres">
      <dgm:prSet presAssocID="{CFA309D6-A145-9D44-B4ED-DAEEE52E8E18}" presName="spacer" presStyleCnt="0"/>
      <dgm:spPr/>
    </dgm:pt>
    <dgm:pt modelId="{88A73A42-6470-A14A-AEB9-21511B65F2D2}" type="pres">
      <dgm:prSet presAssocID="{EF655EB4-0714-46A4-88F9-3A0C82A6E07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ADC567-2E58-484E-9C26-2C7F8E84ED3F}" type="presOf" srcId="{C2C0C203-9D25-465D-8600-643AB7BEA7F3}" destId="{350329C5-3165-9645-977E-EEB773C8E06A}" srcOrd="0" destOrd="0" presId="urn:microsoft.com/office/officeart/2005/8/layout/vList2"/>
    <dgm:cxn modelId="{F6D1CE6D-B56A-3144-B9B3-537779842A9D}" type="presOf" srcId="{10581C54-032F-430B-A4C2-E6FFFF171080}" destId="{90619467-9FB6-A444-9F3F-82B4C04A9944}" srcOrd="0" destOrd="0" presId="urn:microsoft.com/office/officeart/2005/8/layout/vList2"/>
    <dgm:cxn modelId="{AE236489-9A59-4B5F-A9F0-742E12435892}" srcId="{4FC90B69-373D-45B6-8DC9-5548A414A5A4}" destId="{C2C0C203-9D25-465D-8600-643AB7BEA7F3}" srcOrd="1" destOrd="0" parTransId="{3CE290D2-6D04-4ADC-84D6-8C49FADA08EB}" sibTransId="{AEBCB202-F678-42C4-A884-AC8A7C28ABC6}"/>
    <dgm:cxn modelId="{F215E8AA-E793-3B48-B025-7A5468B0E3AA}" type="presOf" srcId="{EF655EB4-0714-46A4-88F9-3A0C82A6E07F}" destId="{88A73A42-6470-A14A-AEB9-21511B65F2D2}" srcOrd="0" destOrd="0" presId="urn:microsoft.com/office/officeart/2005/8/layout/vList2"/>
    <dgm:cxn modelId="{EA42FDBB-0F9B-7E4C-AD7A-352125ECA716}" type="presOf" srcId="{4FC90B69-373D-45B6-8DC9-5548A414A5A4}" destId="{496BABDF-FB3A-D742-82D4-ED33D22D3B9D}" srcOrd="0" destOrd="0" presId="urn:microsoft.com/office/officeart/2005/8/layout/vList2"/>
    <dgm:cxn modelId="{4B0D82C3-1B9F-AA49-BB77-19A559AD0B5E}" type="presOf" srcId="{64EAC758-E76E-A242-B53D-FCA992507B68}" destId="{0BDAF35B-010C-E842-A53F-D7D9F7624262}" srcOrd="0" destOrd="0" presId="urn:microsoft.com/office/officeart/2005/8/layout/vList2"/>
    <dgm:cxn modelId="{48D521D1-9BA3-46B7-B19E-0DCC71108ECD}" srcId="{4FC90B69-373D-45B6-8DC9-5548A414A5A4}" destId="{10581C54-032F-430B-A4C2-E6FFFF171080}" srcOrd="0" destOrd="0" parTransId="{3B26E070-71DB-44C0-AD8B-99EBB7D1335B}" sibTransId="{F6B6429D-D389-4130-AB05-42C0ECFDF540}"/>
    <dgm:cxn modelId="{673376E9-F220-1E4E-8EC0-A01ACB4934AE}" srcId="{4FC90B69-373D-45B6-8DC9-5548A414A5A4}" destId="{64EAC758-E76E-A242-B53D-FCA992507B68}" srcOrd="2" destOrd="0" parTransId="{6FD74410-D1D8-984B-81C2-5B1BBB93757D}" sibTransId="{CFA309D6-A145-9D44-B4ED-DAEEE52E8E18}"/>
    <dgm:cxn modelId="{7339B7F8-7A9E-49A1-ACA1-1200BDFC1597}" srcId="{4FC90B69-373D-45B6-8DC9-5548A414A5A4}" destId="{EF655EB4-0714-46A4-88F9-3A0C82A6E07F}" srcOrd="3" destOrd="0" parTransId="{F7F0A1B9-77BB-4990-BC04-60B83BA8095A}" sibTransId="{E166123E-67BA-4957-A265-D63A8CF70D1A}"/>
    <dgm:cxn modelId="{8E8F5EE8-D10A-7D4A-9EAB-81E948AC2BB7}" type="presParOf" srcId="{496BABDF-FB3A-D742-82D4-ED33D22D3B9D}" destId="{90619467-9FB6-A444-9F3F-82B4C04A9944}" srcOrd="0" destOrd="0" presId="urn:microsoft.com/office/officeart/2005/8/layout/vList2"/>
    <dgm:cxn modelId="{A23A93D9-B58F-2C45-8685-1B0EC11DF1A9}" type="presParOf" srcId="{496BABDF-FB3A-D742-82D4-ED33D22D3B9D}" destId="{E322C571-B28A-E449-8CE3-17F4E28A38E4}" srcOrd="1" destOrd="0" presId="urn:microsoft.com/office/officeart/2005/8/layout/vList2"/>
    <dgm:cxn modelId="{340102BD-17C0-3640-976C-6E16EDE988DA}" type="presParOf" srcId="{496BABDF-FB3A-D742-82D4-ED33D22D3B9D}" destId="{350329C5-3165-9645-977E-EEB773C8E06A}" srcOrd="2" destOrd="0" presId="urn:microsoft.com/office/officeart/2005/8/layout/vList2"/>
    <dgm:cxn modelId="{0FF24499-0C64-0C40-9E52-FC75054F9358}" type="presParOf" srcId="{496BABDF-FB3A-D742-82D4-ED33D22D3B9D}" destId="{7A60BE25-C379-6446-ADFF-09FCE6596434}" srcOrd="3" destOrd="0" presId="urn:microsoft.com/office/officeart/2005/8/layout/vList2"/>
    <dgm:cxn modelId="{89911DFD-1760-2B44-B70A-11131391B2B1}" type="presParOf" srcId="{496BABDF-FB3A-D742-82D4-ED33D22D3B9D}" destId="{0BDAF35B-010C-E842-A53F-D7D9F7624262}" srcOrd="4" destOrd="0" presId="urn:microsoft.com/office/officeart/2005/8/layout/vList2"/>
    <dgm:cxn modelId="{1E7E78FE-671E-834F-BED3-8215B913458C}" type="presParOf" srcId="{496BABDF-FB3A-D742-82D4-ED33D22D3B9D}" destId="{A3681F67-D305-5144-9AF0-BC93F98A1533}" srcOrd="5" destOrd="0" presId="urn:microsoft.com/office/officeart/2005/8/layout/vList2"/>
    <dgm:cxn modelId="{364B17AD-3341-DE4F-AD9E-6DD9AA7CF9CD}" type="presParOf" srcId="{496BABDF-FB3A-D742-82D4-ED33D22D3B9D}" destId="{88A73A42-6470-A14A-AEB9-21511B65F2D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9A2C0F-1BB2-4558-B8C5-B4440E14B4C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4688E89-66C7-4FC9-80C0-C1B0EAF556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Domain specific Knowledge base development (IT support, HR policies</a:t>
          </a:r>
          <a:r>
            <a:rPr lang="en-US">
              <a:latin typeface="Calibri Light"/>
            </a:rPr>
            <a:t>)</a:t>
          </a:r>
          <a:endParaRPr lang="en-US"/>
        </a:p>
      </dgm:t>
    </dgm:pt>
    <dgm:pt modelId="{65D78AC8-9E75-4F7C-979D-AF5ADFC91132}" type="parTrans" cxnId="{33137276-9C89-4217-B8FA-6BCE26D0783D}">
      <dgm:prSet/>
      <dgm:spPr/>
      <dgm:t>
        <a:bodyPr/>
        <a:lstStyle/>
        <a:p>
          <a:endParaRPr lang="en-US"/>
        </a:p>
      </dgm:t>
    </dgm:pt>
    <dgm:pt modelId="{FA712CC0-196F-4348-82B0-0C85783B2F1B}" type="sibTrans" cxnId="{33137276-9C89-4217-B8FA-6BCE26D0783D}">
      <dgm:prSet/>
      <dgm:spPr/>
      <dgm:t>
        <a:bodyPr/>
        <a:lstStyle/>
        <a:p>
          <a:endParaRPr lang="en-US"/>
        </a:p>
      </dgm:t>
    </dgm:pt>
    <dgm:pt modelId="{19F1E43E-D197-464C-B2E0-6061EA052C3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Develop a dynamic RAG(Retrieval-argument-generation) system.</a:t>
          </a:r>
          <a:endParaRPr lang="en-US"/>
        </a:p>
      </dgm:t>
    </dgm:pt>
    <dgm:pt modelId="{AE1418AC-ABBB-45B1-88C6-9A832FBAC515}" type="parTrans" cxnId="{07649558-7F85-4929-9B93-AFD055CAEAFD}">
      <dgm:prSet/>
      <dgm:spPr/>
      <dgm:t>
        <a:bodyPr/>
        <a:lstStyle/>
        <a:p>
          <a:endParaRPr lang="en-US"/>
        </a:p>
      </dgm:t>
    </dgm:pt>
    <dgm:pt modelId="{09815043-FABB-4F8C-8B23-694D6FAE69D1}" type="sibTrans" cxnId="{07649558-7F85-4929-9B93-AFD055CAEAFD}">
      <dgm:prSet/>
      <dgm:spPr/>
      <dgm:t>
        <a:bodyPr/>
        <a:lstStyle/>
        <a:p>
          <a:endParaRPr lang="en-US"/>
        </a:p>
      </dgm:t>
    </dgm:pt>
    <dgm:pt modelId="{A4FC7B73-5064-4987-8A85-0A53A2AB5EE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Implement an episodic memory framework to generate personalized responses based on user feedback and update the database.</a:t>
          </a:r>
          <a:endParaRPr lang="en-US"/>
        </a:p>
      </dgm:t>
    </dgm:pt>
    <dgm:pt modelId="{8BB5817D-5D4E-4489-8559-89363E219BD1}" type="parTrans" cxnId="{BE867402-923E-4E7A-8A67-A0C9B33EA193}">
      <dgm:prSet/>
      <dgm:spPr/>
      <dgm:t>
        <a:bodyPr/>
        <a:lstStyle/>
        <a:p>
          <a:endParaRPr lang="en-US"/>
        </a:p>
      </dgm:t>
    </dgm:pt>
    <dgm:pt modelId="{9806317D-52FF-44A2-8130-C3EF2B50E98B}" type="sibTrans" cxnId="{BE867402-923E-4E7A-8A67-A0C9B33EA193}">
      <dgm:prSet/>
      <dgm:spPr/>
      <dgm:t>
        <a:bodyPr/>
        <a:lstStyle/>
        <a:p>
          <a:endParaRPr lang="en-US"/>
        </a:p>
      </dgm:t>
    </dgm:pt>
    <dgm:pt modelId="{484B3F3A-AA81-4B7C-92AC-4280A151ABF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Design and develop a user-friendly UI interface with an NLP-based document content identification and categorization system.</a:t>
          </a:r>
          <a:endParaRPr lang="en-US"/>
        </a:p>
      </dgm:t>
    </dgm:pt>
    <dgm:pt modelId="{C2D41457-E6CD-41E8-BA7A-857A5D7BF71D}" type="parTrans" cxnId="{21CBBE38-2091-42A8-A293-A39317C9EB2F}">
      <dgm:prSet/>
      <dgm:spPr/>
      <dgm:t>
        <a:bodyPr/>
        <a:lstStyle/>
        <a:p>
          <a:endParaRPr lang="en-US"/>
        </a:p>
      </dgm:t>
    </dgm:pt>
    <dgm:pt modelId="{4E08DB92-F0E0-4E78-B2EA-FE98E0DDAD74}" type="sibTrans" cxnId="{21CBBE38-2091-42A8-A293-A39317C9EB2F}">
      <dgm:prSet/>
      <dgm:spPr/>
      <dgm:t>
        <a:bodyPr/>
        <a:lstStyle/>
        <a:p>
          <a:endParaRPr lang="en-US"/>
        </a:p>
      </dgm:t>
    </dgm:pt>
    <dgm:pt modelId="{58B64164-164B-4EF9-8FE7-630A49C38E4E}" type="pres">
      <dgm:prSet presAssocID="{179A2C0F-1BB2-4558-B8C5-B4440E14B4C1}" presName="root" presStyleCnt="0">
        <dgm:presLayoutVars>
          <dgm:dir/>
          <dgm:resizeHandles val="exact"/>
        </dgm:presLayoutVars>
      </dgm:prSet>
      <dgm:spPr/>
    </dgm:pt>
    <dgm:pt modelId="{3385D857-BB52-41B9-8AEE-F47B83D5BE3B}" type="pres">
      <dgm:prSet presAssocID="{54688E89-66C7-4FC9-80C0-C1B0EAF55626}" presName="compNode" presStyleCnt="0"/>
      <dgm:spPr/>
    </dgm:pt>
    <dgm:pt modelId="{95232BC9-437D-4CD8-A385-1F8D0E699DB5}" type="pres">
      <dgm:prSet presAssocID="{54688E89-66C7-4FC9-80C0-C1B0EAF55626}" presName="bgRect" presStyleLbl="bgShp" presStyleIdx="0" presStyleCnt="4"/>
      <dgm:spPr/>
    </dgm:pt>
    <dgm:pt modelId="{DCE72392-D368-4D3E-92F9-C14100A384E2}" type="pres">
      <dgm:prSet presAssocID="{54688E89-66C7-4FC9-80C0-C1B0EAF5562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4FA7029-D9AA-4079-8BC6-5A7D736BF361}" type="pres">
      <dgm:prSet presAssocID="{54688E89-66C7-4FC9-80C0-C1B0EAF55626}" presName="spaceRect" presStyleCnt="0"/>
      <dgm:spPr/>
    </dgm:pt>
    <dgm:pt modelId="{39E37498-62D7-4A97-BE6F-96CF23D103C2}" type="pres">
      <dgm:prSet presAssocID="{54688E89-66C7-4FC9-80C0-C1B0EAF55626}" presName="parTx" presStyleLbl="revTx" presStyleIdx="0" presStyleCnt="4">
        <dgm:presLayoutVars>
          <dgm:chMax val="0"/>
          <dgm:chPref val="0"/>
        </dgm:presLayoutVars>
      </dgm:prSet>
      <dgm:spPr/>
    </dgm:pt>
    <dgm:pt modelId="{FF7D3FBD-D07B-49D4-8D61-8738D64C3914}" type="pres">
      <dgm:prSet presAssocID="{FA712CC0-196F-4348-82B0-0C85783B2F1B}" presName="sibTrans" presStyleCnt="0"/>
      <dgm:spPr/>
    </dgm:pt>
    <dgm:pt modelId="{F29FD83A-271F-48C8-BF3B-F53941D2ECE2}" type="pres">
      <dgm:prSet presAssocID="{19F1E43E-D197-464C-B2E0-6061EA052C39}" presName="compNode" presStyleCnt="0"/>
      <dgm:spPr/>
    </dgm:pt>
    <dgm:pt modelId="{2C5764A3-D7D4-45BE-A158-3031E2DC65CA}" type="pres">
      <dgm:prSet presAssocID="{19F1E43E-D197-464C-B2E0-6061EA052C39}" presName="bgRect" presStyleLbl="bgShp" presStyleIdx="1" presStyleCnt="4"/>
      <dgm:spPr/>
    </dgm:pt>
    <dgm:pt modelId="{DD1CAD48-B3C0-4A1B-8E99-A43D47B96FCB}" type="pres">
      <dgm:prSet presAssocID="{19F1E43E-D197-464C-B2E0-6061EA052C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05E7B7D5-736C-497B-A5BF-CA93F026E96B}" type="pres">
      <dgm:prSet presAssocID="{19F1E43E-D197-464C-B2E0-6061EA052C39}" presName="spaceRect" presStyleCnt="0"/>
      <dgm:spPr/>
    </dgm:pt>
    <dgm:pt modelId="{35DE712E-1D29-44C0-8F9B-997EB5BB0EDC}" type="pres">
      <dgm:prSet presAssocID="{19F1E43E-D197-464C-B2E0-6061EA052C39}" presName="parTx" presStyleLbl="revTx" presStyleIdx="1" presStyleCnt="4">
        <dgm:presLayoutVars>
          <dgm:chMax val="0"/>
          <dgm:chPref val="0"/>
        </dgm:presLayoutVars>
      </dgm:prSet>
      <dgm:spPr/>
    </dgm:pt>
    <dgm:pt modelId="{F4C64270-815E-4E01-B5FB-74B4E23084E2}" type="pres">
      <dgm:prSet presAssocID="{09815043-FABB-4F8C-8B23-694D6FAE69D1}" presName="sibTrans" presStyleCnt="0"/>
      <dgm:spPr/>
    </dgm:pt>
    <dgm:pt modelId="{0E8E6AB9-064E-4FF7-962D-1B5A6AC89DB8}" type="pres">
      <dgm:prSet presAssocID="{A4FC7B73-5064-4987-8A85-0A53A2AB5EE3}" presName="compNode" presStyleCnt="0"/>
      <dgm:spPr/>
    </dgm:pt>
    <dgm:pt modelId="{1121758E-51AE-49C4-B574-FF3F9601CC54}" type="pres">
      <dgm:prSet presAssocID="{A4FC7B73-5064-4987-8A85-0A53A2AB5EE3}" presName="bgRect" presStyleLbl="bgShp" presStyleIdx="2" presStyleCnt="4"/>
      <dgm:spPr/>
    </dgm:pt>
    <dgm:pt modelId="{1DAC53F0-EFA4-4E5B-83EB-46ACFB9B6F00}" type="pres">
      <dgm:prSet presAssocID="{A4FC7B73-5064-4987-8A85-0A53A2AB5E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B2982A-1960-4E9F-943D-451C99FA9FC1}" type="pres">
      <dgm:prSet presAssocID="{A4FC7B73-5064-4987-8A85-0A53A2AB5EE3}" presName="spaceRect" presStyleCnt="0"/>
      <dgm:spPr/>
    </dgm:pt>
    <dgm:pt modelId="{E84BE9C8-B786-479F-94E2-0E4D76042D4F}" type="pres">
      <dgm:prSet presAssocID="{A4FC7B73-5064-4987-8A85-0A53A2AB5EE3}" presName="parTx" presStyleLbl="revTx" presStyleIdx="2" presStyleCnt="4">
        <dgm:presLayoutVars>
          <dgm:chMax val="0"/>
          <dgm:chPref val="0"/>
        </dgm:presLayoutVars>
      </dgm:prSet>
      <dgm:spPr/>
    </dgm:pt>
    <dgm:pt modelId="{79357715-1FD6-4BD3-8B1D-2E27B7C852B3}" type="pres">
      <dgm:prSet presAssocID="{9806317D-52FF-44A2-8130-C3EF2B50E98B}" presName="sibTrans" presStyleCnt="0"/>
      <dgm:spPr/>
    </dgm:pt>
    <dgm:pt modelId="{529BB4AB-E2E8-49FF-8B51-58D97609D9C8}" type="pres">
      <dgm:prSet presAssocID="{484B3F3A-AA81-4B7C-92AC-4280A151ABFC}" presName="compNode" presStyleCnt="0"/>
      <dgm:spPr/>
    </dgm:pt>
    <dgm:pt modelId="{71E1C7DE-A14F-49E0-92DA-92F681E5BE48}" type="pres">
      <dgm:prSet presAssocID="{484B3F3A-AA81-4B7C-92AC-4280A151ABFC}" presName="bgRect" presStyleLbl="bgShp" presStyleIdx="3" presStyleCnt="4"/>
      <dgm:spPr/>
    </dgm:pt>
    <dgm:pt modelId="{9C623658-DF0B-403C-BA90-804EEC9546B2}" type="pres">
      <dgm:prSet presAssocID="{484B3F3A-AA81-4B7C-92AC-4280A151ABF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D33B7B5-BEC6-46C9-8B18-66D7403883EB}" type="pres">
      <dgm:prSet presAssocID="{484B3F3A-AA81-4B7C-92AC-4280A151ABFC}" presName="spaceRect" presStyleCnt="0"/>
      <dgm:spPr/>
    </dgm:pt>
    <dgm:pt modelId="{0AFC2C16-A0F9-49BF-83C8-54BEABB60A4E}" type="pres">
      <dgm:prSet presAssocID="{484B3F3A-AA81-4B7C-92AC-4280A151ABF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E867402-923E-4E7A-8A67-A0C9B33EA193}" srcId="{179A2C0F-1BB2-4558-B8C5-B4440E14B4C1}" destId="{A4FC7B73-5064-4987-8A85-0A53A2AB5EE3}" srcOrd="2" destOrd="0" parTransId="{8BB5817D-5D4E-4489-8559-89363E219BD1}" sibTransId="{9806317D-52FF-44A2-8130-C3EF2B50E98B}"/>
    <dgm:cxn modelId="{CCFD4A0F-C76C-44B1-968C-5FD80F93D596}" type="presOf" srcId="{484B3F3A-AA81-4B7C-92AC-4280A151ABFC}" destId="{0AFC2C16-A0F9-49BF-83C8-54BEABB60A4E}" srcOrd="0" destOrd="0" presId="urn:microsoft.com/office/officeart/2018/2/layout/IconVerticalSolidList"/>
    <dgm:cxn modelId="{90082538-393C-44A9-9E1F-8CC54F2E7120}" type="presOf" srcId="{19F1E43E-D197-464C-B2E0-6061EA052C39}" destId="{35DE712E-1D29-44C0-8F9B-997EB5BB0EDC}" srcOrd="0" destOrd="0" presId="urn:microsoft.com/office/officeart/2018/2/layout/IconVerticalSolidList"/>
    <dgm:cxn modelId="{21CBBE38-2091-42A8-A293-A39317C9EB2F}" srcId="{179A2C0F-1BB2-4558-B8C5-B4440E14B4C1}" destId="{484B3F3A-AA81-4B7C-92AC-4280A151ABFC}" srcOrd="3" destOrd="0" parTransId="{C2D41457-E6CD-41E8-BA7A-857A5D7BF71D}" sibTransId="{4E08DB92-F0E0-4E78-B2EA-FE98E0DDAD74}"/>
    <dgm:cxn modelId="{0A2CBB62-FFB1-42FE-B0DD-90A3DA6C1087}" type="presOf" srcId="{179A2C0F-1BB2-4558-B8C5-B4440E14B4C1}" destId="{58B64164-164B-4EF9-8FE7-630A49C38E4E}" srcOrd="0" destOrd="0" presId="urn:microsoft.com/office/officeart/2018/2/layout/IconVerticalSolidList"/>
    <dgm:cxn modelId="{33137276-9C89-4217-B8FA-6BCE26D0783D}" srcId="{179A2C0F-1BB2-4558-B8C5-B4440E14B4C1}" destId="{54688E89-66C7-4FC9-80C0-C1B0EAF55626}" srcOrd="0" destOrd="0" parTransId="{65D78AC8-9E75-4F7C-979D-AF5ADFC91132}" sibTransId="{FA712CC0-196F-4348-82B0-0C85783B2F1B}"/>
    <dgm:cxn modelId="{07649558-7F85-4929-9B93-AFD055CAEAFD}" srcId="{179A2C0F-1BB2-4558-B8C5-B4440E14B4C1}" destId="{19F1E43E-D197-464C-B2E0-6061EA052C39}" srcOrd="1" destOrd="0" parTransId="{AE1418AC-ABBB-45B1-88C6-9A832FBAC515}" sibTransId="{09815043-FABB-4F8C-8B23-694D6FAE69D1}"/>
    <dgm:cxn modelId="{A6261C59-B051-4600-BBA7-F055DD1A9660}" type="presOf" srcId="{54688E89-66C7-4FC9-80C0-C1B0EAF55626}" destId="{39E37498-62D7-4A97-BE6F-96CF23D103C2}" srcOrd="0" destOrd="0" presId="urn:microsoft.com/office/officeart/2018/2/layout/IconVerticalSolidList"/>
    <dgm:cxn modelId="{84019289-1440-448A-BD58-B5BC75F5655C}" type="presOf" srcId="{A4FC7B73-5064-4987-8A85-0A53A2AB5EE3}" destId="{E84BE9C8-B786-479F-94E2-0E4D76042D4F}" srcOrd="0" destOrd="0" presId="urn:microsoft.com/office/officeart/2018/2/layout/IconVerticalSolidList"/>
    <dgm:cxn modelId="{95E19D13-D728-4660-93D4-14625B9CC322}" type="presParOf" srcId="{58B64164-164B-4EF9-8FE7-630A49C38E4E}" destId="{3385D857-BB52-41B9-8AEE-F47B83D5BE3B}" srcOrd="0" destOrd="0" presId="urn:microsoft.com/office/officeart/2018/2/layout/IconVerticalSolidList"/>
    <dgm:cxn modelId="{E4F15FEA-78ED-4463-B76D-2625BDEB4B88}" type="presParOf" srcId="{3385D857-BB52-41B9-8AEE-F47B83D5BE3B}" destId="{95232BC9-437D-4CD8-A385-1F8D0E699DB5}" srcOrd="0" destOrd="0" presId="urn:microsoft.com/office/officeart/2018/2/layout/IconVerticalSolidList"/>
    <dgm:cxn modelId="{90BFA76A-3B14-4973-BBC5-C4F936414EC9}" type="presParOf" srcId="{3385D857-BB52-41B9-8AEE-F47B83D5BE3B}" destId="{DCE72392-D368-4D3E-92F9-C14100A384E2}" srcOrd="1" destOrd="0" presId="urn:microsoft.com/office/officeart/2018/2/layout/IconVerticalSolidList"/>
    <dgm:cxn modelId="{9377DB9E-D234-4C26-9CF8-2F60F384B393}" type="presParOf" srcId="{3385D857-BB52-41B9-8AEE-F47B83D5BE3B}" destId="{04FA7029-D9AA-4079-8BC6-5A7D736BF361}" srcOrd="2" destOrd="0" presId="urn:microsoft.com/office/officeart/2018/2/layout/IconVerticalSolidList"/>
    <dgm:cxn modelId="{FD1F45FF-EC6C-4AF4-9D1B-3D1323F2E20E}" type="presParOf" srcId="{3385D857-BB52-41B9-8AEE-F47B83D5BE3B}" destId="{39E37498-62D7-4A97-BE6F-96CF23D103C2}" srcOrd="3" destOrd="0" presId="urn:microsoft.com/office/officeart/2018/2/layout/IconVerticalSolidList"/>
    <dgm:cxn modelId="{7115A357-E624-4A15-B52B-6ACA2546B11D}" type="presParOf" srcId="{58B64164-164B-4EF9-8FE7-630A49C38E4E}" destId="{FF7D3FBD-D07B-49D4-8D61-8738D64C3914}" srcOrd="1" destOrd="0" presId="urn:microsoft.com/office/officeart/2018/2/layout/IconVerticalSolidList"/>
    <dgm:cxn modelId="{C7C8C048-06CE-4ECF-BE6F-CFECF68C7E3B}" type="presParOf" srcId="{58B64164-164B-4EF9-8FE7-630A49C38E4E}" destId="{F29FD83A-271F-48C8-BF3B-F53941D2ECE2}" srcOrd="2" destOrd="0" presId="urn:microsoft.com/office/officeart/2018/2/layout/IconVerticalSolidList"/>
    <dgm:cxn modelId="{4A815D10-BAFB-4F01-AFEF-812F96BCB0CB}" type="presParOf" srcId="{F29FD83A-271F-48C8-BF3B-F53941D2ECE2}" destId="{2C5764A3-D7D4-45BE-A158-3031E2DC65CA}" srcOrd="0" destOrd="0" presId="urn:microsoft.com/office/officeart/2018/2/layout/IconVerticalSolidList"/>
    <dgm:cxn modelId="{4756374F-0240-4F3B-8FBB-39A2F0A7139E}" type="presParOf" srcId="{F29FD83A-271F-48C8-BF3B-F53941D2ECE2}" destId="{DD1CAD48-B3C0-4A1B-8E99-A43D47B96FCB}" srcOrd="1" destOrd="0" presId="urn:microsoft.com/office/officeart/2018/2/layout/IconVerticalSolidList"/>
    <dgm:cxn modelId="{FB3721D4-4D32-45C8-8FDB-F5590F81B462}" type="presParOf" srcId="{F29FD83A-271F-48C8-BF3B-F53941D2ECE2}" destId="{05E7B7D5-736C-497B-A5BF-CA93F026E96B}" srcOrd="2" destOrd="0" presId="urn:microsoft.com/office/officeart/2018/2/layout/IconVerticalSolidList"/>
    <dgm:cxn modelId="{EE624962-3C3C-4ACB-90CC-4FA357A0BCFC}" type="presParOf" srcId="{F29FD83A-271F-48C8-BF3B-F53941D2ECE2}" destId="{35DE712E-1D29-44C0-8F9B-997EB5BB0EDC}" srcOrd="3" destOrd="0" presId="urn:microsoft.com/office/officeart/2018/2/layout/IconVerticalSolidList"/>
    <dgm:cxn modelId="{E091B7D1-6BCF-483A-90B6-485E5A3DB20E}" type="presParOf" srcId="{58B64164-164B-4EF9-8FE7-630A49C38E4E}" destId="{F4C64270-815E-4E01-B5FB-74B4E23084E2}" srcOrd="3" destOrd="0" presId="urn:microsoft.com/office/officeart/2018/2/layout/IconVerticalSolidList"/>
    <dgm:cxn modelId="{931A523E-4686-4603-9CF5-820ECA3B6DE4}" type="presParOf" srcId="{58B64164-164B-4EF9-8FE7-630A49C38E4E}" destId="{0E8E6AB9-064E-4FF7-962D-1B5A6AC89DB8}" srcOrd="4" destOrd="0" presId="urn:microsoft.com/office/officeart/2018/2/layout/IconVerticalSolidList"/>
    <dgm:cxn modelId="{44157DD6-317F-44C5-B453-D3537EBA097F}" type="presParOf" srcId="{0E8E6AB9-064E-4FF7-962D-1B5A6AC89DB8}" destId="{1121758E-51AE-49C4-B574-FF3F9601CC54}" srcOrd="0" destOrd="0" presId="urn:microsoft.com/office/officeart/2018/2/layout/IconVerticalSolidList"/>
    <dgm:cxn modelId="{4F9D637A-270C-41EF-90B4-A36BC34734F1}" type="presParOf" srcId="{0E8E6AB9-064E-4FF7-962D-1B5A6AC89DB8}" destId="{1DAC53F0-EFA4-4E5B-83EB-46ACFB9B6F00}" srcOrd="1" destOrd="0" presId="urn:microsoft.com/office/officeart/2018/2/layout/IconVerticalSolidList"/>
    <dgm:cxn modelId="{43FE4269-FC47-4716-B223-953C219CA511}" type="presParOf" srcId="{0E8E6AB9-064E-4FF7-962D-1B5A6AC89DB8}" destId="{D6B2982A-1960-4E9F-943D-451C99FA9FC1}" srcOrd="2" destOrd="0" presId="urn:microsoft.com/office/officeart/2018/2/layout/IconVerticalSolidList"/>
    <dgm:cxn modelId="{CF814D14-1940-4FA1-86CB-302D029A6C4A}" type="presParOf" srcId="{0E8E6AB9-064E-4FF7-962D-1B5A6AC89DB8}" destId="{E84BE9C8-B786-479F-94E2-0E4D76042D4F}" srcOrd="3" destOrd="0" presId="urn:microsoft.com/office/officeart/2018/2/layout/IconVerticalSolidList"/>
    <dgm:cxn modelId="{50DAEE8B-031D-45F4-A477-8072466C25BD}" type="presParOf" srcId="{58B64164-164B-4EF9-8FE7-630A49C38E4E}" destId="{79357715-1FD6-4BD3-8B1D-2E27B7C852B3}" srcOrd="5" destOrd="0" presId="urn:microsoft.com/office/officeart/2018/2/layout/IconVerticalSolidList"/>
    <dgm:cxn modelId="{CF137E1F-1397-4364-972B-BFF29C5C5FCA}" type="presParOf" srcId="{58B64164-164B-4EF9-8FE7-630A49C38E4E}" destId="{529BB4AB-E2E8-49FF-8B51-58D97609D9C8}" srcOrd="6" destOrd="0" presId="urn:microsoft.com/office/officeart/2018/2/layout/IconVerticalSolidList"/>
    <dgm:cxn modelId="{8F636487-E8E7-4000-B529-75C4DA3CFA18}" type="presParOf" srcId="{529BB4AB-E2E8-49FF-8B51-58D97609D9C8}" destId="{71E1C7DE-A14F-49E0-92DA-92F681E5BE48}" srcOrd="0" destOrd="0" presId="urn:microsoft.com/office/officeart/2018/2/layout/IconVerticalSolidList"/>
    <dgm:cxn modelId="{979E2B91-B361-4A7A-9406-1F6495291663}" type="presParOf" srcId="{529BB4AB-E2E8-49FF-8B51-58D97609D9C8}" destId="{9C623658-DF0B-403C-BA90-804EEC9546B2}" srcOrd="1" destOrd="0" presId="urn:microsoft.com/office/officeart/2018/2/layout/IconVerticalSolidList"/>
    <dgm:cxn modelId="{E87D6897-15CC-469D-8E1D-05563B8D308B}" type="presParOf" srcId="{529BB4AB-E2E8-49FF-8B51-58D97609D9C8}" destId="{0D33B7B5-BEC6-46C9-8B18-66D7403883EB}" srcOrd="2" destOrd="0" presId="urn:microsoft.com/office/officeart/2018/2/layout/IconVerticalSolidList"/>
    <dgm:cxn modelId="{266B4825-38B0-465B-A287-571C4DBE5962}" type="presParOf" srcId="{529BB4AB-E2E8-49FF-8B51-58D97609D9C8}" destId="{0AFC2C16-A0F9-49BF-83C8-54BEABB60A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19467-9FB6-A444-9F3F-82B4C04A9944}">
      <dsp:nvSpPr>
        <dsp:cNvPr id="0" name=""/>
        <dsp:cNvSpPr/>
      </dsp:nvSpPr>
      <dsp:spPr>
        <a:xfrm>
          <a:off x="0" y="77690"/>
          <a:ext cx="11684000" cy="11917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0" i="0" kern="1200"/>
            <a:t>Generation of hallucinated or irrelevant responses by LLMs.</a:t>
          </a:r>
          <a:endParaRPr lang="en-US" sz="3000" kern="1200"/>
        </a:p>
      </dsp:txBody>
      <dsp:txXfrm>
        <a:off x="58177" y="135867"/>
        <a:ext cx="11567646" cy="1075400"/>
      </dsp:txXfrm>
    </dsp:sp>
    <dsp:sp modelId="{350329C5-3165-9645-977E-EEB773C8E06A}">
      <dsp:nvSpPr>
        <dsp:cNvPr id="0" name=""/>
        <dsp:cNvSpPr/>
      </dsp:nvSpPr>
      <dsp:spPr>
        <a:xfrm>
          <a:off x="0" y="1355845"/>
          <a:ext cx="11684000" cy="11917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Lack of personalization and not having efficient memory management</a:t>
          </a:r>
          <a:endParaRPr lang="en-US" sz="3000" kern="1200"/>
        </a:p>
      </dsp:txBody>
      <dsp:txXfrm>
        <a:off x="58177" y="1414022"/>
        <a:ext cx="11567646" cy="1075400"/>
      </dsp:txXfrm>
    </dsp:sp>
    <dsp:sp modelId="{0BDAF35B-010C-E842-A53F-D7D9F7624262}">
      <dsp:nvSpPr>
        <dsp:cNvPr id="0" name=""/>
        <dsp:cNvSpPr/>
      </dsp:nvSpPr>
      <dsp:spPr>
        <a:xfrm>
          <a:off x="0" y="2634000"/>
          <a:ext cx="11684000" cy="11917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0" i="0" u="none" kern="1200"/>
            <a:t>Difficulties in managing RAG systems and dynamically processing knowledge bases in vector databases.</a:t>
          </a:r>
          <a:endParaRPr lang="en-US" sz="3000" kern="1200"/>
        </a:p>
      </dsp:txBody>
      <dsp:txXfrm>
        <a:off x="58177" y="2692177"/>
        <a:ext cx="11567646" cy="1075400"/>
      </dsp:txXfrm>
    </dsp:sp>
    <dsp:sp modelId="{88A73A42-6470-A14A-AEB9-21511B65F2D2}">
      <dsp:nvSpPr>
        <dsp:cNvPr id="0" name=""/>
        <dsp:cNvSpPr/>
      </dsp:nvSpPr>
      <dsp:spPr>
        <a:xfrm>
          <a:off x="0" y="3912154"/>
          <a:ext cx="11684000" cy="11917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0" i="0" u="none" kern="1200"/>
            <a:t>Challenges in identifying domain-specific data, managing unwanted data, and preventing duplication.</a:t>
          </a:r>
          <a:endParaRPr lang="en-US" sz="3000" kern="1200"/>
        </a:p>
      </dsp:txBody>
      <dsp:txXfrm>
        <a:off x="58177" y="3970331"/>
        <a:ext cx="11567646" cy="1075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32BC9-437D-4CD8-A385-1F8D0E699DB5}">
      <dsp:nvSpPr>
        <dsp:cNvPr id="0" name=""/>
        <dsp:cNvSpPr/>
      </dsp:nvSpPr>
      <dsp:spPr>
        <a:xfrm>
          <a:off x="0" y="2150"/>
          <a:ext cx="11684000" cy="10899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72392-D368-4D3E-92F9-C14100A384E2}">
      <dsp:nvSpPr>
        <dsp:cNvPr id="0" name=""/>
        <dsp:cNvSpPr/>
      </dsp:nvSpPr>
      <dsp:spPr>
        <a:xfrm>
          <a:off x="329712" y="247391"/>
          <a:ext cx="599476" cy="599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37498-62D7-4A97-BE6F-96CF23D103C2}">
      <dsp:nvSpPr>
        <dsp:cNvPr id="0" name=""/>
        <dsp:cNvSpPr/>
      </dsp:nvSpPr>
      <dsp:spPr>
        <a:xfrm>
          <a:off x="1258901" y="2150"/>
          <a:ext cx="10425098" cy="108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54" tIns="115354" rIns="115354" bIns="1153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Domain specific Knowledge base development (IT support, HR policies</a:t>
          </a:r>
          <a:r>
            <a:rPr lang="en-US" sz="2200" kern="1200">
              <a:latin typeface="Calibri Light"/>
            </a:rPr>
            <a:t>)</a:t>
          </a:r>
          <a:endParaRPr lang="en-US" sz="2200" kern="1200"/>
        </a:p>
      </dsp:txBody>
      <dsp:txXfrm>
        <a:off x="1258901" y="2150"/>
        <a:ext cx="10425098" cy="1089957"/>
      </dsp:txXfrm>
    </dsp:sp>
    <dsp:sp modelId="{2C5764A3-D7D4-45BE-A158-3031E2DC65CA}">
      <dsp:nvSpPr>
        <dsp:cNvPr id="0" name=""/>
        <dsp:cNvSpPr/>
      </dsp:nvSpPr>
      <dsp:spPr>
        <a:xfrm>
          <a:off x="0" y="1364597"/>
          <a:ext cx="11684000" cy="10899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CAD48-B3C0-4A1B-8E99-A43D47B96FCB}">
      <dsp:nvSpPr>
        <dsp:cNvPr id="0" name=""/>
        <dsp:cNvSpPr/>
      </dsp:nvSpPr>
      <dsp:spPr>
        <a:xfrm>
          <a:off x="329712" y="1609838"/>
          <a:ext cx="599476" cy="599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E712E-1D29-44C0-8F9B-997EB5BB0EDC}">
      <dsp:nvSpPr>
        <dsp:cNvPr id="0" name=""/>
        <dsp:cNvSpPr/>
      </dsp:nvSpPr>
      <dsp:spPr>
        <a:xfrm>
          <a:off x="1258901" y="1364597"/>
          <a:ext cx="10425098" cy="108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54" tIns="115354" rIns="115354" bIns="1153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Develop a dynamic RAG(Retrieval-argument-generation) system.</a:t>
          </a:r>
          <a:endParaRPr lang="en-US" sz="2200" kern="1200"/>
        </a:p>
      </dsp:txBody>
      <dsp:txXfrm>
        <a:off x="1258901" y="1364597"/>
        <a:ext cx="10425098" cy="1089957"/>
      </dsp:txXfrm>
    </dsp:sp>
    <dsp:sp modelId="{1121758E-51AE-49C4-B574-FF3F9601CC54}">
      <dsp:nvSpPr>
        <dsp:cNvPr id="0" name=""/>
        <dsp:cNvSpPr/>
      </dsp:nvSpPr>
      <dsp:spPr>
        <a:xfrm>
          <a:off x="0" y="2727044"/>
          <a:ext cx="11684000" cy="10899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C53F0-EFA4-4E5B-83EB-46ACFB9B6F00}">
      <dsp:nvSpPr>
        <dsp:cNvPr id="0" name=""/>
        <dsp:cNvSpPr/>
      </dsp:nvSpPr>
      <dsp:spPr>
        <a:xfrm>
          <a:off x="329712" y="2972285"/>
          <a:ext cx="599476" cy="599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BE9C8-B786-479F-94E2-0E4D76042D4F}">
      <dsp:nvSpPr>
        <dsp:cNvPr id="0" name=""/>
        <dsp:cNvSpPr/>
      </dsp:nvSpPr>
      <dsp:spPr>
        <a:xfrm>
          <a:off x="1258901" y="2727044"/>
          <a:ext cx="10425098" cy="108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54" tIns="115354" rIns="115354" bIns="1153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Implement an episodic memory framework to generate personalized responses based on user feedback and update the database.</a:t>
          </a:r>
          <a:endParaRPr lang="en-US" sz="2200" kern="1200"/>
        </a:p>
      </dsp:txBody>
      <dsp:txXfrm>
        <a:off x="1258901" y="2727044"/>
        <a:ext cx="10425098" cy="1089957"/>
      </dsp:txXfrm>
    </dsp:sp>
    <dsp:sp modelId="{71E1C7DE-A14F-49E0-92DA-92F681E5BE48}">
      <dsp:nvSpPr>
        <dsp:cNvPr id="0" name=""/>
        <dsp:cNvSpPr/>
      </dsp:nvSpPr>
      <dsp:spPr>
        <a:xfrm>
          <a:off x="0" y="4089491"/>
          <a:ext cx="11684000" cy="10899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23658-DF0B-403C-BA90-804EEC9546B2}">
      <dsp:nvSpPr>
        <dsp:cNvPr id="0" name=""/>
        <dsp:cNvSpPr/>
      </dsp:nvSpPr>
      <dsp:spPr>
        <a:xfrm>
          <a:off x="329712" y="4334732"/>
          <a:ext cx="599476" cy="599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C2C16-A0F9-49BF-83C8-54BEABB60A4E}">
      <dsp:nvSpPr>
        <dsp:cNvPr id="0" name=""/>
        <dsp:cNvSpPr/>
      </dsp:nvSpPr>
      <dsp:spPr>
        <a:xfrm>
          <a:off x="1258901" y="4089491"/>
          <a:ext cx="10425098" cy="108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54" tIns="115354" rIns="115354" bIns="1153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Design and develop a user-friendly UI interface with an NLP-based document content identification and categorization system.</a:t>
          </a:r>
          <a:endParaRPr lang="en-US" sz="2200" kern="1200"/>
        </a:p>
      </dsp:txBody>
      <dsp:txXfrm>
        <a:off x="1258901" y="4089491"/>
        <a:ext cx="10425098" cy="1089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706D-6A0A-34E6-78B3-47E0F1B9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0175E-9C93-E834-E2E9-E0DD0DB5F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C4CC8-C55D-CFAA-1D6D-2AC276EED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E57CA-D4A7-62F5-7041-8525F8726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64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FAD6-2C5C-43B9-88C1-A4D0ABB0AFB3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8050-80D7-4291-AB66-6A1E35615B40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E1DD-11FC-4773-90B0-7C84B33D7902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567F4-BE83-445F-85AF-B776F4B1F44F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27950-57AA-438F-A742-7956300D4966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74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533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574689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829529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2074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1824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188517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5918FA-EA80-4CC8-AC82-0157AB8FAB6D}" type="datetime1">
              <a:rPr lang="en-US" smtClean="0">
                <a:latin typeface="+mn-lt"/>
              </a:rPr>
              <a:t>9/10/2025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1104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3580A47-37BE-4D67-A71A-FF1D3E4F0A2D}" type="datetime1">
              <a:rPr lang="en-US" smtClean="0">
                <a:latin typeface="+mn-lt"/>
              </a:rPr>
              <a:t>9/10/2025</a:t>
            </a:fld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947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19545C7-2767-4E4F-8267-57722943CE68}" type="datetime1">
              <a:rPr lang="en-US" smtClean="0">
                <a:latin typeface="+mn-lt"/>
              </a:rPr>
              <a:t>9/10/2025</a:t>
            </a:fld>
            <a:endParaRPr lang="en-US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072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E11E6-0747-4685-917B-59C99F566F3B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6" r:id="rId20"/>
    <p:sldLayoutId id="2147483677" r:id="rId21"/>
    <p:sldLayoutId id="2147483678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asirkhn.com/portfolio/9-facebook-chatbot" TargetMode="External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legacy-docs-oss.rasa.com/docs/rasa/" TargetMode="Externa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themanifest.com/web-design/blog/6-steps-avoid-online-form-abandonment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in front of a glass railing&#10;&#10;Description automatically generated">
            <a:extLst>
              <a:ext uri="{FF2B5EF4-FFF2-40B4-BE49-F238E27FC236}">
                <a16:creationId xmlns:a16="http://schemas.microsoft.com/office/drawing/2014/main" id="{DEFB731E-0A55-77DF-6225-883D605C7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" r="-1" b="29814"/>
          <a:stretch/>
        </p:blipFill>
        <p:spPr>
          <a:xfrm>
            <a:off x="8986899" y="222274"/>
            <a:ext cx="2990403" cy="2512164"/>
          </a:xfrm>
          <a:prstGeom prst="rect">
            <a:avLst/>
          </a:prstGeom>
          <a:noFill/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F772B7A3-5AA6-5894-83FB-FE344F50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236" y="2419064"/>
            <a:ext cx="10363200" cy="1362075"/>
          </a:xfrm>
        </p:spPr>
        <p:txBody>
          <a:bodyPr/>
          <a:lstStyle/>
          <a:p>
            <a:r>
              <a:rPr lang="en-US">
                <a:latin typeface="Adobe Devanagari"/>
              </a:rPr>
              <a:t>IT21807480 | Gamage U.R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E5C3B5F-32EE-0196-29C3-A4B7B7C537AB}"/>
              </a:ext>
            </a:extLst>
          </p:cNvPr>
          <p:cNvSpPr txBox="1">
            <a:spLocks/>
          </p:cNvSpPr>
          <p:nvPr/>
        </p:nvSpPr>
        <p:spPr>
          <a:xfrm>
            <a:off x="923144" y="3933526"/>
            <a:ext cx="10363200" cy="7241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>
                <a:solidFill>
                  <a:srgbClr val="898989"/>
                </a:solidFill>
              </a:rPr>
              <a:t>Software Engineering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4A9C71-4B30-1F10-0207-19182B74F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81E454-885A-81E7-E16D-61C36E7304A4}"/>
              </a:ext>
            </a:extLst>
          </p:cNvPr>
          <p:cNvSpPr/>
          <p:nvPr/>
        </p:nvSpPr>
        <p:spPr>
          <a:xfrm>
            <a:off x="4023196" y="6453163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IT21807480</a:t>
            </a:r>
            <a:r>
              <a:rPr lang="en-US" sz="1800">
                <a:solidFill>
                  <a:schemeClr val="tx1"/>
                </a:solidFill>
              </a:rPr>
              <a:t>  |   </a:t>
            </a:r>
            <a:r>
              <a:rPr lang="en-US">
                <a:solidFill>
                  <a:schemeClr val="tx1"/>
                </a:solidFill>
              </a:rPr>
              <a:t>Gamage U.R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F1044-3AFF-D9C5-E131-4111DD382948}"/>
              </a:ext>
            </a:extLst>
          </p:cNvPr>
          <p:cNvSpPr txBox="1"/>
          <p:nvPr/>
        </p:nvSpPr>
        <p:spPr>
          <a:xfrm>
            <a:off x="11666271" y="64892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1912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2F75-BED1-9A98-868F-1C622B66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747252"/>
            <a:ext cx="116840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latin typeface="Adobe Devanagari"/>
              </a:rPr>
              <a:t>INTRODUCTION</a:t>
            </a:r>
            <a:endParaRPr lang="en-US">
              <a:latin typeface="Adobe Devanagari"/>
            </a:endParaRPr>
          </a:p>
          <a:p>
            <a:endParaRPr lang="en-US" kern="12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997E21-F273-BBF7-B739-95D581166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66951"/>
            <a:ext cx="5214852" cy="239727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b="0"/>
              <a:t>Knowledge Base Development</a:t>
            </a:r>
            <a:endParaRPr lang="en-US" sz="4400" b="0">
              <a:ea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A242-0A57-C2EB-1A37-CE1A97D13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111E80-F1A6-377A-97D7-FA77DC56E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00" r="9721" b="3"/>
          <a:stretch/>
        </p:blipFill>
        <p:spPr>
          <a:xfrm>
            <a:off x="6205658" y="1711579"/>
            <a:ext cx="5376743" cy="3951288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ADE75-CD18-E7DA-8CCC-376452620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232EB2-8EF5-463D-AB19-EA0988D6E7FB}"/>
              </a:ext>
            </a:extLst>
          </p:cNvPr>
          <p:cNvSpPr/>
          <p:nvPr/>
        </p:nvSpPr>
        <p:spPr>
          <a:xfrm>
            <a:off x="4023196" y="6453163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IT21807480</a:t>
            </a:r>
            <a:r>
              <a:rPr lang="en-US" sz="1800">
                <a:solidFill>
                  <a:schemeClr val="tx1"/>
                </a:solidFill>
              </a:rPr>
              <a:t>  |   </a:t>
            </a:r>
            <a:r>
              <a:rPr lang="en-US">
                <a:solidFill>
                  <a:schemeClr val="tx1"/>
                </a:solidFill>
              </a:rPr>
              <a:t>Gamage U.R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DAD52-77B4-BCB4-5A39-4C789A040DA2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1170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33DE-8245-AA6D-3D1D-A159C453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44FEE-E4B9-F161-54E9-969B0A26E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K"/>
              <a:t>What is knwoledge base</a:t>
            </a:r>
          </a:p>
          <a:p>
            <a:r>
              <a:rPr lang="en-LK"/>
              <a:t>What is Dynamic Rag system</a:t>
            </a:r>
          </a:p>
          <a:p>
            <a:r>
              <a:rPr lang="en-GB"/>
              <a:t>W</a:t>
            </a:r>
            <a:r>
              <a:rPr lang="en-LK"/>
              <a:t>hat is episodic memory how does it help ?</a:t>
            </a:r>
          </a:p>
          <a:p>
            <a:endParaRPr lang="en-LK"/>
          </a:p>
          <a:p>
            <a:endParaRPr lang="en-L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12812-D870-3556-2EBE-2CA6C041B41E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716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7FAF-0856-9CBE-71A5-D4D76F50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LK"/>
              <a:t>Research Problem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F569B3F-735F-8141-8562-8D33F0AD1F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" y="1143000"/>
          <a:ext cx="11684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0291336-5574-7129-655C-0BA9EEB5B0E8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629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7A7F9-002B-631C-3E13-6849BB95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LK"/>
              <a:t>Objectives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5C14648-B7E9-7608-4826-EA77FD03A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881463"/>
              </p:ext>
            </p:extLst>
          </p:nvPr>
        </p:nvGraphicFramePr>
        <p:xfrm>
          <a:off x="304800" y="1143000"/>
          <a:ext cx="11684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8A28F5F-8BCC-024D-32AD-45C50D139050}"/>
              </a:ext>
            </a:extLst>
          </p:cNvPr>
          <p:cNvSpPr txBox="1"/>
          <p:nvPr/>
        </p:nvSpPr>
        <p:spPr>
          <a:xfrm>
            <a:off x="11666271" y="64831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2163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knowledge base process&#10;&#10;AI-generated content may be incorrect.">
            <a:extLst>
              <a:ext uri="{FF2B5EF4-FFF2-40B4-BE49-F238E27FC236}">
                <a16:creationId xmlns:a16="http://schemas.microsoft.com/office/drawing/2014/main" id="{B99FF90B-D40B-8145-FDEB-CFFECA969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335" y="513"/>
            <a:ext cx="8886653" cy="6686498"/>
          </a:xfrm>
          <a:noFill/>
        </p:spPr>
      </p:pic>
    </p:spTree>
    <p:extLst>
      <p:ext uri="{BB962C8B-B14F-4D97-AF65-F5344CB8AC3E}">
        <p14:creationId xmlns:p14="http://schemas.microsoft.com/office/powerpoint/2010/main" val="411550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3C3B-FF94-9023-32BA-326D2EE5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LK" b="1">
                <a:latin typeface="Adobe Devanagari"/>
              </a:rPr>
              <a:t>System Diagram</a:t>
            </a:r>
            <a:endParaRPr lang="en-US" b="1">
              <a:latin typeface="Adobe Devanagari"/>
            </a:endParaRPr>
          </a:p>
        </p:txBody>
      </p:sp>
      <p:pic>
        <p:nvPicPr>
          <p:cNvPr id="5" name="Content Placeholder 4" descr="A diagram of a software development&#10;&#10;Description automatically generated with medium confidence">
            <a:extLst>
              <a:ext uri="{FF2B5EF4-FFF2-40B4-BE49-F238E27FC236}">
                <a16:creationId xmlns:a16="http://schemas.microsoft.com/office/drawing/2014/main" id="{E8800EFF-9862-AB71-145C-C6848D029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615" y="1825625"/>
            <a:ext cx="8090769" cy="4351338"/>
          </a:xfr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53EA31-48DF-CEA7-D5F8-B23FF145B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B1203E-57A6-496A-59ED-D963A206234B}"/>
              </a:ext>
            </a:extLst>
          </p:cNvPr>
          <p:cNvSpPr/>
          <p:nvPr/>
        </p:nvSpPr>
        <p:spPr>
          <a:xfrm>
            <a:off x="4023196" y="6453163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IT21807480</a:t>
            </a:r>
            <a:r>
              <a:rPr lang="en-US" sz="1800">
                <a:solidFill>
                  <a:schemeClr val="tx1"/>
                </a:solidFill>
              </a:rPr>
              <a:t>  |   </a:t>
            </a:r>
            <a:r>
              <a:rPr lang="en-US">
                <a:solidFill>
                  <a:schemeClr val="tx1"/>
                </a:solidFill>
              </a:rPr>
              <a:t>Gamage U.R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BBE1-D00D-DFA8-CFE4-20DD68C6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018" y="168852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>
                <a:ea typeface="Calibri Light"/>
                <a:cs typeface="Calibri Light"/>
              </a:rPr>
              <a:t>Technologies</a:t>
            </a:r>
            <a:endParaRPr lang="en-GB" sz="3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2310A-7B24-F565-51F3-E8FD7E733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708"/>
            <a:ext cx="3969895" cy="436382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GB">
                <a:ea typeface="Calibri"/>
                <a:cs typeface="Calibri"/>
              </a:rPr>
              <a:t>Fast API</a:t>
            </a:r>
            <a:endParaRPr lang="en-US">
              <a:ea typeface="Calibri"/>
              <a:cs typeface="Calibri"/>
            </a:endParaRPr>
          </a:p>
          <a:p>
            <a:r>
              <a:rPr lang="en-GB">
                <a:ea typeface="Calibri"/>
                <a:cs typeface="Calibri"/>
              </a:rPr>
              <a:t>Python</a:t>
            </a:r>
          </a:p>
          <a:p>
            <a:r>
              <a:rPr lang="en-GB" err="1">
                <a:ea typeface="Calibri"/>
                <a:cs typeface="Calibri"/>
              </a:rPr>
              <a:t>Mongodb</a:t>
            </a:r>
            <a:endParaRPr lang="en-GB">
              <a:ea typeface="Calibri"/>
              <a:cs typeface="Calibri"/>
            </a:endParaRPr>
          </a:p>
          <a:p>
            <a:r>
              <a:rPr lang="en-GB">
                <a:ea typeface="Calibri"/>
                <a:cs typeface="Calibri"/>
              </a:rPr>
              <a:t>Redis</a:t>
            </a:r>
          </a:p>
          <a:p>
            <a:r>
              <a:rPr lang="en-GB">
                <a:ea typeface="Calibri"/>
                <a:cs typeface="Calibri"/>
              </a:rPr>
              <a:t>Sentence transformers</a:t>
            </a:r>
          </a:p>
          <a:p>
            <a:r>
              <a:rPr lang="en-GB" err="1">
                <a:ea typeface="Calibri"/>
                <a:cs typeface="Calibri"/>
              </a:rPr>
              <a:t>Pydantic</a:t>
            </a:r>
            <a:endParaRPr lang="en-GB">
              <a:ea typeface="Calibri"/>
              <a:cs typeface="Calibri"/>
            </a:endParaRPr>
          </a:p>
          <a:p>
            <a:r>
              <a:rPr lang="en-GB" err="1">
                <a:ea typeface="Calibri"/>
                <a:cs typeface="Calibri"/>
              </a:rPr>
              <a:t>Openai</a:t>
            </a:r>
            <a:endParaRPr lang="en-GB">
              <a:ea typeface="Calibri"/>
              <a:cs typeface="Calibri"/>
            </a:endParaRPr>
          </a:p>
          <a:p>
            <a:r>
              <a:rPr lang="en-GB" err="1">
                <a:ea typeface="Calibri"/>
                <a:cs typeface="Calibri"/>
              </a:rPr>
              <a:t>Chainlit</a:t>
            </a:r>
            <a:endParaRPr lang="en-GB">
              <a:ea typeface="Calibri"/>
              <a:cs typeface="Calibri"/>
            </a:endParaRPr>
          </a:p>
          <a:p>
            <a:r>
              <a:rPr lang="en-GB" err="1">
                <a:ea typeface="Calibri"/>
                <a:cs typeface="Calibri"/>
              </a:rPr>
              <a:t>Numpy</a:t>
            </a:r>
            <a:endParaRPr lang="en-GB">
              <a:ea typeface="Calibri"/>
              <a:cs typeface="Calibri"/>
            </a:endParaRPr>
          </a:p>
          <a:p>
            <a:r>
              <a:rPr lang="en-GB">
                <a:ea typeface="Calibri"/>
                <a:cs typeface="Calibri"/>
              </a:rPr>
              <a:t>Matplotlib</a:t>
            </a:r>
          </a:p>
          <a:p>
            <a:r>
              <a:rPr lang="en-GB">
                <a:ea typeface="Calibri"/>
                <a:cs typeface="Calibri"/>
              </a:rPr>
              <a:t>Seaborn</a:t>
            </a: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CAFBF1-4905-9FD7-F724-5E2CF67FD524}"/>
              </a:ext>
            </a:extLst>
          </p:cNvPr>
          <p:cNvSpPr txBox="1">
            <a:spLocks/>
          </p:cNvSpPr>
          <p:nvPr/>
        </p:nvSpPr>
        <p:spPr>
          <a:xfrm>
            <a:off x="6686863" y="1696960"/>
            <a:ext cx="3969895" cy="43638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ea typeface="Calibri"/>
                <a:cs typeface="Calibri"/>
              </a:rPr>
              <a:t>Loggers</a:t>
            </a:r>
          </a:p>
          <a:p>
            <a:r>
              <a:rPr lang="en-GB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Tqdm</a:t>
            </a:r>
            <a:endParaRPr lang="en-GB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GB">
                <a:ea typeface="Calibri"/>
                <a:cs typeface="Calibri"/>
              </a:rPr>
              <a:t>Pandas</a:t>
            </a:r>
          </a:p>
          <a:p>
            <a:r>
              <a:rPr lang="en-GB" err="1">
                <a:ea typeface="Calibri"/>
                <a:cs typeface="Calibri"/>
              </a:rPr>
              <a:t>Langchain</a:t>
            </a:r>
          </a:p>
          <a:p>
            <a:r>
              <a:rPr lang="en-GB">
                <a:ea typeface="Calibri"/>
                <a:cs typeface="Calibri"/>
              </a:rPr>
              <a:t>Ragas</a:t>
            </a:r>
          </a:p>
          <a:p>
            <a:r>
              <a:rPr lang="en-GB" err="1">
                <a:ea typeface="Calibri"/>
                <a:cs typeface="Calibri"/>
              </a:rPr>
              <a:t>Nltk</a:t>
            </a:r>
            <a:endParaRPr lang="en-GB">
              <a:ea typeface="Calibri"/>
              <a:cs typeface="Calibri"/>
            </a:endParaRPr>
          </a:p>
          <a:p>
            <a:r>
              <a:rPr lang="en-GB" err="1">
                <a:ea typeface="Calibri"/>
                <a:cs typeface="Calibri"/>
              </a:rPr>
              <a:t>Chromadb</a:t>
            </a:r>
          </a:p>
          <a:p>
            <a:r>
              <a:rPr lang="en-GB">
                <a:ea typeface="Calibri"/>
                <a:cs typeface="Calibri"/>
              </a:rPr>
              <a:t>Embedding</a:t>
            </a:r>
          </a:p>
          <a:p>
            <a:r>
              <a:rPr lang="en-GB" err="1">
                <a:ea typeface="Calibri"/>
                <a:cs typeface="Calibri"/>
              </a:rPr>
              <a:t>Pdfplumber</a:t>
            </a:r>
          </a:p>
          <a:p>
            <a:r>
              <a:rPr lang="en-GB" err="1">
                <a:ea typeface="Calibri"/>
                <a:cs typeface="Calibri"/>
              </a:rPr>
              <a:t>Dockling</a:t>
            </a:r>
          </a:p>
          <a:p>
            <a:r>
              <a:rPr lang="en-GB" err="1">
                <a:ea typeface="Calibri"/>
                <a:cs typeface="Calibri"/>
              </a:rPr>
              <a:t>Pypdf</a:t>
            </a:r>
          </a:p>
          <a:p>
            <a:r>
              <a:rPr lang="en-GB">
                <a:ea typeface="Calibri"/>
                <a:cs typeface="Calibri"/>
              </a:rPr>
              <a:t>Python-docx</a:t>
            </a:r>
          </a:p>
        </p:txBody>
      </p:sp>
    </p:spTree>
    <p:extLst>
      <p:ext uri="{BB962C8B-B14F-4D97-AF65-F5344CB8AC3E}">
        <p14:creationId xmlns:p14="http://schemas.microsoft.com/office/powerpoint/2010/main" val="3367921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AF55-BED1-C283-B35E-8FD7EA422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-2553"/>
            <a:ext cx="8597279" cy="931242"/>
          </a:xfrm>
        </p:spPr>
        <p:txBody>
          <a:bodyPr>
            <a:normAutofit/>
          </a:bodyPr>
          <a:lstStyle/>
          <a:p>
            <a:r>
              <a:rPr lang="en-GB" sz="2800">
                <a:ea typeface="Calibri Light"/>
                <a:cs typeface="Calibri Light"/>
              </a:rPr>
              <a:t>Evidence of completion</a:t>
            </a:r>
          </a:p>
        </p:txBody>
      </p:sp>
      <p:pic>
        <p:nvPicPr>
          <p:cNvPr id="4" name="Content Placeholder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6119F1D5-10F4-E3D2-7FD0-E456FFB36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520" y="1880210"/>
            <a:ext cx="5683897" cy="4487807"/>
          </a:xfr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4489E9-8B31-AF19-1D4D-7C1B119BA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3399" y="416514"/>
            <a:ext cx="2731014" cy="602428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0638DB2-A65F-D312-712F-B5A22AFFF9A9}"/>
              </a:ext>
            </a:extLst>
          </p:cNvPr>
          <p:cNvSpPr txBox="1">
            <a:spLocks/>
          </p:cNvSpPr>
          <p:nvPr/>
        </p:nvSpPr>
        <p:spPr>
          <a:xfrm>
            <a:off x="434789" y="1289995"/>
            <a:ext cx="5814208" cy="607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>
                <a:ea typeface="Calibri Light"/>
                <a:cs typeface="Calibri Light"/>
              </a:rPr>
              <a:t>Episodic memory integration</a:t>
            </a:r>
            <a:endParaRPr lang="en-US" sz="280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77937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689B-864C-5557-1F29-3DD645B1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553" y="105149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>
                <a:ea typeface="Calibri Light"/>
                <a:cs typeface="Calibri Light"/>
              </a:rPr>
              <a:t>EVIDENCE OF COMPLETION</a:t>
            </a:r>
          </a:p>
          <a:p>
            <a:endParaRPr lang="en-GB" sz="2800">
              <a:ea typeface="Calibri Light"/>
              <a:cs typeface="Calibri Light"/>
            </a:endParaRP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C7ECB41-AAF0-749E-1571-B91B47E93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159" y="1188057"/>
            <a:ext cx="6427784" cy="1838381"/>
          </a:xfr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9C3366-4507-3D7E-543F-41837E69E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65" y="3200400"/>
            <a:ext cx="6418730" cy="345141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48FA33-37BC-7602-F83C-3186DC07FB9F}"/>
              </a:ext>
            </a:extLst>
          </p:cNvPr>
          <p:cNvSpPr txBox="1">
            <a:spLocks/>
          </p:cNvSpPr>
          <p:nvPr/>
        </p:nvSpPr>
        <p:spPr>
          <a:xfrm>
            <a:off x="7292789" y="1449855"/>
            <a:ext cx="3496236" cy="1316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>
                <a:ea typeface="Calibri Light"/>
                <a:cs typeface="Calibri Light"/>
              </a:rPr>
              <a:t>Re-Ranking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6F04970-38F9-9FD4-5B9D-A09C8991AF90}"/>
              </a:ext>
            </a:extLst>
          </p:cNvPr>
          <p:cNvSpPr txBox="1">
            <a:spLocks/>
          </p:cNvSpPr>
          <p:nvPr/>
        </p:nvSpPr>
        <p:spPr>
          <a:xfrm>
            <a:off x="7292789" y="3314514"/>
            <a:ext cx="3496236" cy="1316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>
                <a:ea typeface="Calibri Light"/>
                <a:cs typeface="Calibri Light"/>
              </a:rPr>
              <a:t>Chroma DB insertion </a:t>
            </a:r>
          </a:p>
        </p:txBody>
      </p:sp>
    </p:spTree>
    <p:extLst>
      <p:ext uri="{BB962C8B-B14F-4D97-AF65-F5344CB8AC3E}">
        <p14:creationId xmlns:p14="http://schemas.microsoft.com/office/powerpoint/2010/main" val="15142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50E95-20EE-C34B-0430-2189A5D16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08" y="-210372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>
                <a:ea typeface="Calibri Light"/>
                <a:cs typeface="Calibri Light"/>
              </a:rPr>
              <a:t>Evaluation of rag using Ragas metric</a:t>
            </a:r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62F48A43-9309-6250-ABB8-8001E091D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662" y="717146"/>
            <a:ext cx="10323869" cy="5898475"/>
          </a:xfrm>
        </p:spPr>
      </p:pic>
    </p:spTree>
    <p:extLst>
      <p:ext uri="{BB962C8B-B14F-4D97-AF65-F5344CB8AC3E}">
        <p14:creationId xmlns:p14="http://schemas.microsoft.com/office/powerpoint/2010/main" val="515458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8FC9-85AC-817F-71E7-4AB017AA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B749E0-550F-6A24-1ED0-412DD4EE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chemeClr val="tx1"/>
                </a:solidFill>
              </a:rPr>
              <a:t>IT21315282</a:t>
            </a:r>
            <a:r>
              <a:rPr lang="en-US" sz="40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92C7DF-04ED-89C5-83AD-5D6EC9A05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pic>
        <p:nvPicPr>
          <p:cNvPr id="3" name="Picture 2" descr="A person with a beard and mustache&#10;&#10;Description automatically generated">
            <a:extLst>
              <a:ext uri="{FF2B5EF4-FFF2-40B4-BE49-F238E27FC236}">
                <a16:creationId xmlns:a16="http://schemas.microsoft.com/office/drawing/2014/main" id="{FF64AD39-417D-4C0A-2DBE-D9FDC4425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00" y="129116"/>
            <a:ext cx="2581936" cy="27449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20DDBCB-4B65-A9F2-6862-4634345B1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38C122-EECB-F8C8-5FFE-021138170EE3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193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E51A-C5FF-D696-E976-36F2820D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F2EA-14D5-72E2-F8C8-44C44300C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622" y="2712720"/>
            <a:ext cx="6315587" cy="949960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3200" b="1">
                <a:latin typeface="Adobe Devanagari"/>
              </a:rPr>
              <a:t>INTEGRATION WITH FORMS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3AE29B02-6B9B-71ED-1644-09745B906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>
            <a:normAutofit lnSpcReduction="10000"/>
          </a:bodyPr>
          <a:lstStyle/>
          <a:p>
            <a:r>
              <a:rPr lang="en-US"/>
              <a:t>Conversational form filling automation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84BEFC-C9DA-5F9D-8B90-90496038A8C6}"/>
              </a:ext>
            </a:extLst>
          </p:cNvPr>
          <p:cNvSpPr txBox="1">
            <a:spLocks/>
          </p:cNvSpPr>
          <p:nvPr/>
        </p:nvSpPr>
        <p:spPr>
          <a:xfrm>
            <a:off x="403622" y="606848"/>
            <a:ext cx="3784920" cy="690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dobe Devanagari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B17ED-C2B6-A7E3-C65F-FF67809E3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CB49F7-22C9-498E-C300-53DDC3E98813}"/>
              </a:ext>
            </a:extLst>
          </p:cNvPr>
          <p:cNvSpPr/>
          <p:nvPr/>
        </p:nvSpPr>
        <p:spPr>
          <a:xfrm>
            <a:off x="3017197" y="639946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14" name="Picture Placeholder 13" descr="A blue line art of chat bots&#10;&#10;AI-generated content may be incorrect.">
            <a:extLst>
              <a:ext uri="{FF2B5EF4-FFF2-40B4-BE49-F238E27FC236}">
                <a16:creationId xmlns:a16="http://schemas.microsoft.com/office/drawing/2014/main" id="{C4AF8E03-BDE5-4440-ACBF-8B36ADEE9D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20045" t="983" r="20045" b="983"/>
          <a:stretch/>
        </p:blipFill>
        <p:spPr>
          <a:xfrm flipH="1">
            <a:off x="6086167" y="-22225"/>
            <a:ext cx="6080760" cy="6902450"/>
          </a:xfrm>
        </p:spPr>
      </p:pic>
    </p:spTree>
    <p:extLst>
      <p:ext uri="{BB962C8B-B14F-4D97-AF65-F5344CB8AC3E}">
        <p14:creationId xmlns:p14="http://schemas.microsoft.com/office/powerpoint/2010/main" val="31691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BCE6-AB48-07ED-4A7D-019247D6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7FF61-8402-296E-4F2C-6EB66C058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Abandon Form Because of the Following Reasons:</a:t>
            </a:r>
            <a:endParaRPr lang="en-US" dirty="0"/>
          </a:p>
          <a:p>
            <a:pPr lvl="1"/>
            <a:r>
              <a:rPr lang="en-US" dirty="0"/>
              <a:t>Complexity.</a:t>
            </a:r>
          </a:p>
          <a:p>
            <a:pPr lvl="1"/>
            <a:r>
              <a:rPr lang="en-US" dirty="0"/>
              <a:t>Time-consuming nature.</a:t>
            </a:r>
          </a:p>
          <a:p>
            <a:pPr lvl="1"/>
            <a:r>
              <a:rPr lang="en-US" dirty="0"/>
              <a:t>Lack of knowledge about relevant information needed to complete the form.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4B8CB-1BDA-BAAC-0817-AC75A8165BC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6" name="Picture 5" descr="A cartoon character standing next to a red question mark&#10;&#10;Description automatically generated">
            <a:extLst>
              <a:ext uri="{FF2B5EF4-FFF2-40B4-BE49-F238E27FC236}">
                <a16:creationId xmlns:a16="http://schemas.microsoft.com/office/drawing/2014/main" id="{EC39179D-10C5-62CB-2609-B3A158C7EA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663" y="3494472"/>
            <a:ext cx="3048000" cy="3048000"/>
          </a:xfrm>
          <a:prstGeom prst="rect">
            <a:avLst/>
          </a:prstGeom>
        </p:spPr>
      </p:pic>
      <p:pic>
        <p:nvPicPr>
          <p:cNvPr id="5" name="Picture 4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1B8A7027-2A3D-73D7-8028-FAAE67760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08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-33113"/>
            <a:ext cx="6088961" cy="6891113"/>
            <a:chOff x="0" y="0"/>
            <a:chExt cx="3582567" cy="4481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127001"/>
            <a:ext cx="121920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Objectives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832" y="1533914"/>
            <a:ext cx="5577077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 panose="05000000000000000000" pitchFamily="2" charset="2"/>
              <a:buChar char="v"/>
            </a:pPr>
            <a:r>
              <a:rPr lang="en-US" sz="2133" b="1" spc="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roxima Nova"/>
                <a:cs typeface="Proxima Nova"/>
                <a:sym typeface="Proxima Nova"/>
              </a:rPr>
              <a:t>Automate Form Filling Process using conversation.</a:t>
            </a: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F4850DE2-5186-B8BC-0154-3B4DFEFDA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0844086B-D5C0-5CBF-F92B-4BB0E07115FE}"/>
              </a:ext>
            </a:extLst>
          </p:cNvPr>
          <p:cNvSpPr txBox="1"/>
          <p:nvPr/>
        </p:nvSpPr>
        <p:spPr>
          <a:xfrm>
            <a:off x="675001" y="743735"/>
            <a:ext cx="4717136" cy="48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2667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Main Objective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F9F57E69-B714-2C20-D7DB-755EB12C69AC}"/>
              </a:ext>
            </a:extLst>
          </p:cNvPr>
          <p:cNvSpPr txBox="1"/>
          <p:nvPr/>
        </p:nvSpPr>
        <p:spPr>
          <a:xfrm>
            <a:off x="6096000" y="805205"/>
            <a:ext cx="6096000" cy="484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2667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Sub 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46A1D2-8BC6-97A1-F0C1-1EFEC23EB3E5}"/>
              </a:ext>
            </a:extLst>
          </p:cNvPr>
          <p:cNvCxnSpPr/>
          <p:nvPr/>
        </p:nvCxnSpPr>
        <p:spPr>
          <a:xfrm>
            <a:off x="1464710" y="1263026"/>
            <a:ext cx="3084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D03025-F044-7620-25D3-1E32BFD8D7B8}"/>
              </a:ext>
            </a:extLst>
          </p:cNvPr>
          <p:cNvCxnSpPr/>
          <p:nvPr/>
        </p:nvCxnSpPr>
        <p:spPr>
          <a:xfrm>
            <a:off x="7585701" y="1299903"/>
            <a:ext cx="3084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8">
            <a:extLst>
              <a:ext uri="{FF2B5EF4-FFF2-40B4-BE49-F238E27FC236}">
                <a16:creationId xmlns:a16="http://schemas.microsoft.com/office/drawing/2014/main" id="{207DAF28-D94C-D2AC-C895-7159A3B7D803}"/>
              </a:ext>
            </a:extLst>
          </p:cNvPr>
          <p:cNvSpPr txBox="1"/>
          <p:nvPr/>
        </p:nvSpPr>
        <p:spPr>
          <a:xfrm>
            <a:off x="6330793" y="1505820"/>
            <a:ext cx="5619375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 panose="05000000000000000000" pitchFamily="2" charset="2"/>
              <a:buChar char="v"/>
            </a:pP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Conversational Form Filling:</a:t>
            </a:r>
          </a:p>
          <a:p>
            <a:pPr>
              <a:lnSpc>
                <a:spcPts val="2400"/>
              </a:lnSpc>
            </a:pPr>
            <a:r>
              <a:rPr lang="en-US" sz="2133" dirty="0"/>
              <a:t>Filling form using conversation this will enhance user engagement.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 Classification.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 based subject generation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Ticket priority detection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/>
              <a:buChar char="v"/>
            </a:pP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Automate Form Filling Process:</a:t>
            </a:r>
            <a:endParaRPr lang="en-US" sz="213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r>
              <a:rPr lang="en-US" sz="2133" dirty="0"/>
              <a:t>Automatically fill slots.</a:t>
            </a: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 panose="05000000000000000000" pitchFamily="2" charset="2"/>
              <a:buChar char="v"/>
            </a:pP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 Submission:</a:t>
            </a:r>
          </a:p>
          <a:p>
            <a:pPr>
              <a:lnSpc>
                <a:spcPts val="2400"/>
              </a:lnSpc>
              <a:buClr>
                <a:srgbClr val="F9AD6F"/>
              </a:buClr>
            </a:pPr>
            <a:r>
              <a:rPr lang="en-US" sz="2133" dirty="0"/>
              <a:t>Submit form and sent to the Api as Json format </a:t>
            </a:r>
            <a:endParaRPr lang="en-US" sz="213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04815" indent="-304815">
              <a:lnSpc>
                <a:spcPts val="2400"/>
              </a:lnSpc>
              <a:buClr>
                <a:srgbClr val="F9AD6F"/>
              </a:buClr>
              <a:buFont typeface="Wingdings" panose="05000000000000000000" pitchFamily="2" charset="2"/>
              <a:buChar char="v"/>
            </a:pP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Chat UI Development:</a:t>
            </a:r>
            <a:endParaRPr lang="en-US" sz="2133" dirty="0">
              <a:ea typeface="Calibri"/>
              <a:cs typeface="Calibri"/>
            </a:endParaRPr>
          </a:p>
          <a:p>
            <a:pPr>
              <a:lnSpc>
                <a:spcPts val="2400"/>
              </a:lnSpc>
            </a:pPr>
            <a:endParaRPr lang="en-US" sz="2133" dirty="0">
              <a:ea typeface="Calibri"/>
              <a:cs typeface="Calibri"/>
            </a:endParaRPr>
          </a:p>
        </p:txBody>
      </p:sp>
      <p:pic>
        <p:nvPicPr>
          <p:cNvPr id="1030" name="Picture 6" descr="What is OCD? | Causes &amp; Signs | Exceptional Individuals">
            <a:extLst>
              <a:ext uri="{FF2B5EF4-FFF2-40B4-BE49-F238E27FC236}">
                <a16:creationId xmlns:a16="http://schemas.microsoft.com/office/drawing/2014/main" id="{3DA55C74-D99B-63BE-6779-CCA903275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764" y="2629329"/>
            <a:ext cx="3796145" cy="380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90DE75-256F-B3FF-93E3-83BB4588C31F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833A-9B92-3615-F54B-F35E38189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9FEF4986-F981-0910-F064-BC4ECB349E71}"/>
              </a:ext>
            </a:extLst>
          </p:cNvPr>
          <p:cNvSpPr txBox="1">
            <a:spLocks/>
          </p:cNvSpPr>
          <p:nvPr/>
        </p:nvSpPr>
        <p:spPr>
          <a:xfrm>
            <a:off x="20472" y="-3412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b="1"/>
              <a:t>METHODOLOGY SYSTEM DIAGRAM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F2EE92-7D2E-D45B-B359-493BA9018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0580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5EE5E1-BAD6-0D0A-8F8F-ABB92D2F1B6A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D1D7F5-7B0F-14EA-14F9-F0C26BD75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81" y="752360"/>
            <a:ext cx="9190437" cy="5647790"/>
          </a:xfrm>
        </p:spPr>
      </p:pic>
    </p:spTree>
    <p:extLst>
      <p:ext uri="{BB962C8B-B14F-4D97-AF65-F5344CB8AC3E}">
        <p14:creationId xmlns:p14="http://schemas.microsoft.com/office/powerpoint/2010/main" val="165968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" y="-33113"/>
            <a:ext cx="5509291" cy="6891113"/>
            <a:chOff x="0" y="0"/>
            <a:chExt cx="3582567" cy="4481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76399" y="88527"/>
            <a:ext cx="8686800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– Technologies, Techniques, Models</a:t>
            </a: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204D02B1-683B-22E1-BEE6-C5EA2D8B6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8A2FEF-9DB5-0F6A-2062-98D13096D813}"/>
              </a:ext>
            </a:extLst>
          </p:cNvPr>
          <p:cNvSpPr txBox="1"/>
          <p:nvPr/>
        </p:nvSpPr>
        <p:spPr>
          <a:xfrm>
            <a:off x="347014" y="61306"/>
            <a:ext cx="4935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021934-F515-42B6-DC80-E647ED812BF8}"/>
              </a:ext>
            </a:extLst>
          </p:cNvPr>
          <p:cNvSpPr/>
          <p:nvPr/>
        </p:nvSpPr>
        <p:spPr>
          <a:xfrm>
            <a:off x="609600" y="1888598"/>
            <a:ext cx="3156724" cy="39994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666258-BB49-D75B-AECA-31B7EC8232DA}"/>
              </a:ext>
            </a:extLst>
          </p:cNvPr>
          <p:cNvSpPr txBox="1"/>
          <p:nvPr/>
        </p:nvSpPr>
        <p:spPr>
          <a:xfrm>
            <a:off x="1138163" y="1538843"/>
            <a:ext cx="212344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b="1"/>
              <a:t>Technologies</a:t>
            </a:r>
            <a:endParaRPr lang="en-US" sz="16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285165-BEE3-D303-D033-72939C8E7286}"/>
              </a:ext>
            </a:extLst>
          </p:cNvPr>
          <p:cNvSpPr txBox="1"/>
          <p:nvPr/>
        </p:nvSpPr>
        <p:spPr>
          <a:xfrm>
            <a:off x="879114" y="1935808"/>
            <a:ext cx="2887210" cy="4063228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/>
          <a:p>
            <a:endParaRPr lang="en-US" sz="1867" dirty="0"/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 dirty="0"/>
              <a:t>RASA Open Source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 dirty="0"/>
              <a:t>RASA SDK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 dirty="0"/>
              <a:t>Python</a:t>
            </a:r>
            <a:endParaRPr lang="en-US" sz="1867" dirty="0">
              <a:ea typeface="Calibri"/>
              <a:cs typeface="Calibri"/>
            </a:endParaRP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 dirty="0"/>
              <a:t>Flask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 dirty="0">
                <a:ea typeface="Calibri"/>
                <a:cs typeface="Calibri"/>
              </a:rPr>
              <a:t>FAST API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 dirty="0"/>
              <a:t>NLTK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2000" dirty="0"/>
              <a:t>S</a:t>
            </a:r>
            <a:r>
              <a:rPr lang="en-US" sz="2000" b="0" dirty="0">
                <a:effectLst/>
              </a:rPr>
              <a:t>entence-transformers</a:t>
            </a:r>
            <a:endParaRPr lang="en-US" sz="1867" dirty="0"/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 dirty="0"/>
              <a:t>Redis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 dirty="0"/>
              <a:t>Docker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GB" sz="2000" dirty="0">
                <a:ea typeface="Calibri"/>
                <a:cs typeface="Calibri"/>
              </a:rPr>
              <a:t>Loggers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GB" sz="2000" dirty="0" err="1">
                <a:ea typeface="Calibri"/>
                <a:cs typeface="Calibri"/>
              </a:rPr>
              <a:t>Ollama</a:t>
            </a:r>
            <a:endParaRPr lang="en-US" sz="1867" dirty="0">
              <a:ea typeface="Calibri"/>
              <a:cs typeface="Calibri"/>
            </a:endParaRPr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080179-5CCC-BA89-530A-DA5F37A9C91C}"/>
              </a:ext>
            </a:extLst>
          </p:cNvPr>
          <p:cNvSpPr/>
          <p:nvPr/>
        </p:nvSpPr>
        <p:spPr>
          <a:xfrm>
            <a:off x="4277360" y="1640840"/>
            <a:ext cx="3156724" cy="3632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7C04B7-4798-8519-1FDC-04034AD39D5D}"/>
              </a:ext>
            </a:extLst>
          </p:cNvPr>
          <p:cNvSpPr txBox="1"/>
          <p:nvPr/>
        </p:nvSpPr>
        <p:spPr>
          <a:xfrm>
            <a:off x="4785603" y="1254363"/>
            <a:ext cx="212344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b="1"/>
              <a:t>Techniques</a:t>
            </a:r>
            <a:endParaRPr lang="en-US" sz="16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C0C461-0A30-FCBC-96DD-0B5309C11239}"/>
              </a:ext>
            </a:extLst>
          </p:cNvPr>
          <p:cNvSpPr txBox="1"/>
          <p:nvPr/>
        </p:nvSpPr>
        <p:spPr>
          <a:xfrm>
            <a:off x="4677658" y="1860347"/>
            <a:ext cx="2552700" cy="3427220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/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>
                <a:ea typeface="+mn-lt"/>
                <a:cs typeface="+mn-lt"/>
              </a:rPr>
              <a:t>Text Preprocessing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>
                <a:ea typeface="+mn-lt"/>
                <a:cs typeface="+mn-lt"/>
              </a:rPr>
              <a:t>Intent recognition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>
                <a:ea typeface="+mn-lt"/>
                <a:cs typeface="+mn-lt"/>
              </a:rPr>
              <a:t>Automation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867">
                <a:ea typeface="+mn-lt"/>
                <a:cs typeface="+mn-lt"/>
              </a:rPr>
              <a:t>Named Entity Recognition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867">
              <a:ea typeface="+mn-lt"/>
              <a:cs typeface="+mn-lt"/>
            </a:endParaRPr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867">
              <a:ea typeface="+mn-lt"/>
              <a:cs typeface="+mn-lt"/>
            </a:endParaRPr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867">
              <a:ea typeface="Calibri"/>
              <a:cs typeface="Calibri"/>
            </a:endParaRPr>
          </a:p>
          <a:p>
            <a:endParaRPr lang="en-US" sz="1867"/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867"/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600"/>
          </a:p>
          <a:p>
            <a:pPr marL="190510" indent="-190510"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3074F0-1FAB-0635-DD48-C75F3D4F134D}"/>
              </a:ext>
            </a:extLst>
          </p:cNvPr>
          <p:cNvSpPr/>
          <p:nvPr/>
        </p:nvSpPr>
        <p:spPr>
          <a:xfrm>
            <a:off x="8080236" y="1962983"/>
            <a:ext cx="3156724" cy="3632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66EF7A-6A44-EEE7-413A-04704D4D1965}"/>
              </a:ext>
            </a:extLst>
          </p:cNvPr>
          <p:cNvSpPr txBox="1"/>
          <p:nvPr/>
        </p:nvSpPr>
        <p:spPr>
          <a:xfrm>
            <a:off x="8608799" y="1576507"/>
            <a:ext cx="2123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Models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C68C90-204D-15BF-85C2-82E5EAE98B77}"/>
              </a:ext>
            </a:extLst>
          </p:cNvPr>
          <p:cNvSpPr txBox="1"/>
          <p:nvPr/>
        </p:nvSpPr>
        <p:spPr>
          <a:xfrm>
            <a:off x="8425676" y="2130624"/>
            <a:ext cx="2552700" cy="800219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/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DIET Classifier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600" dirty="0"/>
              <a:t>MINILM</a:t>
            </a:r>
          </a:p>
          <a:p>
            <a:pPr marL="190510" indent="-19051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Phi3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F40084-F98C-2588-FEA0-552756627BA8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08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01976" y="3610"/>
            <a:ext cx="5509291" cy="6891113"/>
            <a:chOff x="0" y="0"/>
            <a:chExt cx="3582567" cy="44811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76399" y="88527"/>
            <a:ext cx="86868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b="1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– Evidence of Completion</a:t>
            </a:r>
            <a:endParaRPr lang="en-US" sz="3734" b="1" spc="56">
              <a:solidFill>
                <a:srgbClr val="3B6A7E"/>
              </a:solidFill>
              <a:latin typeface="Montserrat Heavy"/>
              <a:ea typeface="Montserrat Heavy"/>
              <a:cs typeface="Montserrat Heavy"/>
            </a:endParaRP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204D02B1-683B-22E1-BEE6-C5EA2D8B6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8A2FEF-9DB5-0F6A-2062-98D13096D813}"/>
              </a:ext>
            </a:extLst>
          </p:cNvPr>
          <p:cNvSpPr txBox="1"/>
          <p:nvPr/>
        </p:nvSpPr>
        <p:spPr>
          <a:xfrm>
            <a:off x="347014" y="61306"/>
            <a:ext cx="4935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53681-E55A-477B-2A50-9DBE986B6AD0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15" name="Picture 1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6932A16F-E8D6-28B8-CFE6-3EFCF4381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3737"/>
            <a:ext cx="3857680" cy="2244586"/>
          </a:xfrm>
          <a:prstGeom prst="rect">
            <a:avLst/>
          </a:prstGeom>
        </p:spPr>
      </p:pic>
      <p:pic>
        <p:nvPicPr>
          <p:cNvPr id="20" name="Picture 1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5C325BB-59A4-298D-2CE6-F3F0CC900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690" y="614312"/>
            <a:ext cx="4143953" cy="568721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3B32D89-455D-16B4-1E5E-19A9C13EB4A8}"/>
              </a:ext>
            </a:extLst>
          </p:cNvPr>
          <p:cNvSpPr txBox="1"/>
          <p:nvPr/>
        </p:nvSpPr>
        <p:spPr>
          <a:xfrm>
            <a:off x="1493020" y="1246723"/>
            <a:ext cx="287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Custom Form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EEEA27-6FB3-22A6-4272-DEFC7BA25A97}"/>
              </a:ext>
            </a:extLst>
          </p:cNvPr>
          <p:cNvSpPr txBox="1"/>
          <p:nvPr/>
        </p:nvSpPr>
        <p:spPr>
          <a:xfrm>
            <a:off x="5205689" y="917013"/>
            <a:ext cx="208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ui-sans-serif"/>
              </a:rPr>
              <a:t>S</a:t>
            </a:r>
            <a:r>
              <a:rPr lang="en-US" b="1" i="0">
                <a:solidFill>
                  <a:srgbClr val="000000"/>
                </a:solidFill>
                <a:effectLst/>
                <a:latin typeface="ui-sans-serif"/>
              </a:rPr>
              <a:t>tore  data in slots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837020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97ED-E6E1-5614-7E0C-62226F6D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DC2655E-AA49-E946-AD15-A490BBA649CA}"/>
              </a:ext>
            </a:extLst>
          </p:cNvPr>
          <p:cNvGrpSpPr/>
          <p:nvPr/>
        </p:nvGrpSpPr>
        <p:grpSpPr>
          <a:xfrm>
            <a:off x="-201976" y="3610"/>
            <a:ext cx="5509291" cy="6891113"/>
            <a:chOff x="0" y="0"/>
            <a:chExt cx="3582567" cy="44811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7FDD06E-7D61-F07C-81A5-BE9BB31728BD}"/>
                </a:ext>
              </a:extLst>
            </p:cNvPr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89DBE38-65E4-38C8-6CBC-7D9215FB788B}"/>
              </a:ext>
            </a:extLst>
          </p:cNvPr>
          <p:cNvSpPr txBox="1"/>
          <p:nvPr/>
        </p:nvSpPr>
        <p:spPr>
          <a:xfrm>
            <a:off x="1676399" y="88527"/>
            <a:ext cx="86868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b="1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– Evidence of Completion</a:t>
            </a:r>
            <a:endParaRPr lang="en-US" sz="3734" b="1" spc="56">
              <a:solidFill>
                <a:srgbClr val="3B6A7E"/>
              </a:solidFill>
              <a:latin typeface="Montserrat Heavy"/>
              <a:ea typeface="Montserrat Heavy"/>
              <a:cs typeface="Montserrat Heavy"/>
            </a:endParaRP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67B9ED7D-109A-613F-3F47-30DCEDBEE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C725F8-6061-90E4-1C37-5D205A9727F1}"/>
              </a:ext>
            </a:extLst>
          </p:cNvPr>
          <p:cNvSpPr txBox="1"/>
          <p:nvPr/>
        </p:nvSpPr>
        <p:spPr>
          <a:xfrm>
            <a:off x="347014" y="61306"/>
            <a:ext cx="4935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255885-0249-7C74-37C2-1E22C3CCCF4C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CF7743-1B79-7D0E-94D6-E2854B877A82}"/>
              </a:ext>
            </a:extLst>
          </p:cNvPr>
          <p:cNvSpPr txBox="1"/>
          <p:nvPr/>
        </p:nvSpPr>
        <p:spPr>
          <a:xfrm>
            <a:off x="457200" y="1231975"/>
            <a:ext cx="2875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Set up rules for conversational flow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0844397-BEB6-3691-6371-CBFA0B95C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538" y="853241"/>
            <a:ext cx="6735115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46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757E4-DFF5-160C-D60A-F90EE1A25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C6DBB7E-DC6B-B8E1-0761-F6C843129F6B}"/>
              </a:ext>
            </a:extLst>
          </p:cNvPr>
          <p:cNvGrpSpPr/>
          <p:nvPr/>
        </p:nvGrpSpPr>
        <p:grpSpPr>
          <a:xfrm>
            <a:off x="-201976" y="3610"/>
            <a:ext cx="5509291" cy="6891113"/>
            <a:chOff x="0" y="0"/>
            <a:chExt cx="3582567" cy="44811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048445-2204-DC3E-B4F4-EA852989E5A2}"/>
                </a:ext>
              </a:extLst>
            </p:cNvPr>
            <p:cNvSpPr/>
            <p:nvPr/>
          </p:nvSpPr>
          <p:spPr>
            <a:xfrm>
              <a:off x="0" y="0"/>
              <a:ext cx="3582567" cy="4481134"/>
            </a:xfrm>
            <a:custGeom>
              <a:avLst/>
              <a:gdLst/>
              <a:ahLst/>
              <a:cxnLst/>
              <a:rect l="l" t="t" r="r" b="b"/>
              <a:pathLst>
                <a:path w="3582567" h="4481134">
                  <a:moveTo>
                    <a:pt x="0" y="0"/>
                  </a:moveTo>
                  <a:lnTo>
                    <a:pt x="3582567" y="0"/>
                  </a:lnTo>
                  <a:lnTo>
                    <a:pt x="3582567" y="4481134"/>
                  </a:lnTo>
                  <a:lnTo>
                    <a:pt x="0" y="4481134"/>
                  </a:lnTo>
                  <a:close/>
                </a:path>
              </a:pathLst>
            </a:custGeom>
            <a:solidFill>
              <a:srgbClr val="EEECDE"/>
            </a:solid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B434AAD-CDFD-43CF-5C7B-7F9ECD417C1A}"/>
              </a:ext>
            </a:extLst>
          </p:cNvPr>
          <p:cNvSpPr txBox="1"/>
          <p:nvPr/>
        </p:nvSpPr>
        <p:spPr>
          <a:xfrm>
            <a:off x="1676399" y="88527"/>
            <a:ext cx="86868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b="1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– Evidence of Completion</a:t>
            </a:r>
            <a:endParaRPr lang="en-US" sz="3734" b="1" spc="56">
              <a:solidFill>
                <a:srgbClr val="3B6A7E"/>
              </a:solidFill>
              <a:latin typeface="Montserrat Heavy"/>
              <a:ea typeface="Montserrat Heavy"/>
              <a:cs typeface="Montserrat Heavy"/>
            </a:endParaRPr>
          </a:p>
        </p:txBody>
      </p:sp>
      <p:pic>
        <p:nvPicPr>
          <p:cNvPr id="9" name="Picture 8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D9325EFB-C255-DE0B-3E00-57851F968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16E778-668D-2B12-1442-B1E17846FE2F}"/>
              </a:ext>
            </a:extLst>
          </p:cNvPr>
          <p:cNvSpPr txBox="1"/>
          <p:nvPr/>
        </p:nvSpPr>
        <p:spPr>
          <a:xfrm>
            <a:off x="347014" y="61306"/>
            <a:ext cx="4935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1E6EAA-9128-06CA-D1BA-2C23ADAB54C0}"/>
              </a:ext>
            </a:extLst>
          </p:cNvPr>
          <p:cNvSpPr/>
          <p:nvPr/>
        </p:nvSpPr>
        <p:spPr>
          <a:xfrm>
            <a:off x="3420319" y="6363759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C5CD7B-0118-0C37-A47B-1AF4AFF76416}"/>
              </a:ext>
            </a:extLst>
          </p:cNvPr>
          <p:cNvSpPr txBox="1"/>
          <p:nvPr/>
        </p:nvSpPr>
        <p:spPr>
          <a:xfrm>
            <a:off x="346452" y="1714258"/>
            <a:ext cx="4741963" cy="1374479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2133" b="1">
                <a:latin typeface="Calibri"/>
                <a:ea typeface="Segoe UI"/>
                <a:cs typeface="Segoe UI"/>
              </a:rPr>
              <a:t>Action To capture input and Automate the Req type and Category</a:t>
            </a:r>
            <a:r>
              <a:rPr lang="en-US" sz="2133">
                <a:latin typeface="Calibri"/>
                <a:ea typeface="Segoe UI"/>
                <a:cs typeface="Segoe UI"/>
              </a:rPr>
              <a:t>:​</a:t>
            </a:r>
          </a:p>
          <a:p>
            <a:pPr rtl="0"/>
            <a:r>
              <a:rPr lang="en-US" sz="2133">
                <a:latin typeface="Calibri"/>
                <a:ea typeface="Segoe UI"/>
                <a:cs typeface="Segoe UI"/>
              </a:rPr>
              <a:t>Predict Req type and Category</a:t>
            </a:r>
          </a:p>
          <a:p>
            <a:pPr rtl="0"/>
            <a:endParaRPr lang="en-US" sz="2133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16D09A-5ACD-D88E-CA41-0B1A32A759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6451" y="3501443"/>
            <a:ext cx="4741963" cy="1374479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33" b="1">
                <a:latin typeface="Calibri"/>
                <a:ea typeface="Calibri"/>
                <a:cs typeface="Calibri"/>
              </a:rPr>
              <a:t>Action to submit form</a:t>
            </a:r>
            <a:r>
              <a:rPr lang="en-US" sz="2133">
                <a:latin typeface="Calibri"/>
                <a:ea typeface="Calibri"/>
                <a:cs typeface="Calibri"/>
              </a:rPr>
              <a:t>:</a:t>
            </a:r>
          </a:p>
          <a:p>
            <a:r>
              <a:rPr lang="en-US" sz="2133">
                <a:latin typeface="Calibri"/>
                <a:ea typeface="Calibri"/>
                <a:cs typeface="Calibri"/>
              </a:rPr>
              <a:t>Submitted data send to the Api as Json format.</a:t>
            </a:r>
          </a:p>
          <a:p>
            <a:endParaRPr lang="en-US" sz="2133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14DE51-13AF-11BD-4E50-245283AF2B2A}"/>
              </a:ext>
            </a:extLst>
          </p:cNvPr>
          <p:cNvSpPr txBox="1"/>
          <p:nvPr/>
        </p:nvSpPr>
        <p:spPr>
          <a:xfrm>
            <a:off x="6056860" y="1714258"/>
            <a:ext cx="5329529" cy="718017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33" b="1">
                <a:latin typeface="Calibri"/>
                <a:ea typeface="Calibri"/>
                <a:cs typeface="Calibri"/>
              </a:rPr>
              <a:t>Action to Validate form fields</a:t>
            </a:r>
            <a:r>
              <a:rPr lang="en-US" sz="2133">
                <a:latin typeface="Calibri"/>
                <a:ea typeface="Calibri"/>
                <a:cs typeface="Calibri"/>
              </a:rPr>
              <a:t>:</a:t>
            </a:r>
          </a:p>
          <a:p>
            <a:r>
              <a:rPr lang="en-US" sz="2133">
                <a:latin typeface="Calibri"/>
                <a:ea typeface="Calibri"/>
                <a:cs typeface="Calibri"/>
              </a:rPr>
              <a:t>Validate form fields.</a:t>
            </a:r>
            <a:endParaRPr lang="en-US" sz="2133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78FADA-589C-07C5-AA3C-5D69D44246F9}"/>
              </a:ext>
            </a:extLst>
          </p:cNvPr>
          <p:cNvSpPr txBox="1"/>
          <p:nvPr/>
        </p:nvSpPr>
        <p:spPr>
          <a:xfrm>
            <a:off x="6096000" y="3532221"/>
            <a:ext cx="4428370" cy="1374479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33" b="1">
                <a:ea typeface="+mn-lt"/>
                <a:cs typeface="+mn-lt"/>
              </a:rPr>
              <a:t>Interruption handling and Fallback Mechanism:</a:t>
            </a:r>
          </a:p>
          <a:p>
            <a:r>
              <a:rPr lang="en-US" sz="2133">
                <a:ea typeface="+mn-lt"/>
                <a:cs typeface="+mn-lt"/>
              </a:rPr>
              <a:t>Interruption handling,  unclear and out of scope message handling.</a:t>
            </a:r>
            <a:endParaRPr lang="en-US" sz="2133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2615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5E829-7741-1BDF-4D19-DDFE5B6F3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29480"/>
            <a:ext cx="11684000" cy="53951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/>
              <a:t>[1]  </a:t>
            </a:r>
            <a:r>
              <a:rPr lang="en-US" sz="2000" err="1"/>
              <a:t>Saberion</a:t>
            </a:r>
            <a:r>
              <a:rPr lang="en-US" sz="2000"/>
              <a:t>, "OASYS," LOLC Technologies, [Online]. Available: https://lolc.oasys.lk. [Accessed </a:t>
            </a:r>
            <a:r>
              <a:rPr lang="en-US" sz="2000" err="1"/>
              <a:t>january</a:t>
            </a:r>
            <a:r>
              <a:rPr lang="en-US" sz="2000"/>
              <a:t> 2025].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[2] </a:t>
            </a:r>
            <a:r>
              <a:rPr lang="fr-FR" sz="2100"/>
              <a:t>Rasa, "Rasa Open Source Documentation," </a:t>
            </a:r>
            <a:r>
              <a:rPr lang="fr-FR" sz="2100" i="1"/>
              <a:t>Rasa Technologies</a:t>
            </a:r>
            <a:r>
              <a:rPr lang="fr-FR" sz="2100"/>
              <a:t>, [Online]. </a:t>
            </a:r>
            <a:r>
              <a:rPr lang="fr-FR" sz="2100" err="1"/>
              <a:t>Available</a:t>
            </a:r>
            <a:r>
              <a:rPr lang="fr-FR" sz="2100"/>
              <a:t>: </a:t>
            </a:r>
            <a:r>
              <a:rPr lang="fr-FR" sz="2100">
                <a:hlinkClick r:id="rId2"/>
              </a:rPr>
              <a:t>https://legacy-docs-oss.rasa.com/docs/rasa/</a:t>
            </a:r>
            <a:r>
              <a:rPr lang="fr-FR" sz="2100"/>
              <a:t>. [</a:t>
            </a:r>
            <a:r>
              <a:rPr lang="fr-FR" sz="2100" err="1"/>
              <a:t>Accessed</a:t>
            </a:r>
            <a:r>
              <a:rPr lang="fr-FR" sz="2100"/>
              <a:t>: Apr. 7, 2025].</a:t>
            </a:r>
            <a:endParaRPr lang="en-US" sz="2100"/>
          </a:p>
          <a:p>
            <a:pPr marL="0" indent="0">
              <a:buNone/>
            </a:pPr>
            <a:r>
              <a:rPr lang="en-US" sz="2000"/>
              <a:t> </a:t>
            </a:r>
          </a:p>
          <a:p>
            <a:pPr marL="0" indent="0">
              <a:buNone/>
            </a:pPr>
            <a:r>
              <a:rPr lang="en-US" sz="2000"/>
              <a:t>[3] E. </a:t>
            </a:r>
            <a:r>
              <a:rPr lang="en-US" sz="2000" err="1"/>
              <a:t>Rukzio</a:t>
            </a:r>
            <a:r>
              <a:rPr lang="en-US" sz="2000"/>
              <a:t>, "Automatic form filling on mobile devices," Pervasive and Mobile Computing, vol. 4, no. 2, p. 161–181, 2008.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[4] H. Belgacem, "A Machine Learning Approach for Automated Filling of Categorical Fields in Data Entry Forms," ACM Transactions on Software Engineering and Methodology, vol. 32, no. 2, pp. 1-40, 2023. 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[5]  M. Bucur, "Exploring large language models and retrieval augmented generation for automated form filling," University of Twente, Enschede, 2023.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[6]  A. R. Hegde, ""Automated government form filling for aged and monolingual people using interactive tool"," Disability and Rehabilitation: Assistive Technology, Vols. vol. 19, no. 61, pp. 1-11, 2023. 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[7]  D. Patil, "Bot form filler," International Journal of Research Publication and Reviews, vol. 4, no. 10, pp. 1-3, 2023.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B62E7-BEFD-CA4C-C173-18282B21B3CD}"/>
              </a:ext>
            </a:extLst>
          </p:cNvPr>
          <p:cNvSpPr txBox="1"/>
          <p:nvPr/>
        </p:nvSpPr>
        <p:spPr>
          <a:xfrm>
            <a:off x="3049138" y="648866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 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03A64313-CB85-60D7-A9C0-5611329BF55A}"/>
              </a:ext>
            </a:extLst>
          </p:cNvPr>
          <p:cNvSpPr txBox="1"/>
          <p:nvPr/>
        </p:nvSpPr>
        <p:spPr>
          <a:xfrm>
            <a:off x="3316748" y="239626"/>
            <a:ext cx="4717136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References</a:t>
            </a:r>
          </a:p>
        </p:txBody>
      </p:sp>
      <p:pic>
        <p:nvPicPr>
          <p:cNvPr id="7" name="Picture 6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7A5275BF-0E1E-0E1B-8CB4-FB855EF6A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62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E313-4EF2-167C-8872-1CD3AE8F8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87965-F507-0458-1931-92D937549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05643"/>
            <a:ext cx="11684000" cy="5181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/>
              <a:t>[8]  S. Wang, Y. Zou, I. </a:t>
            </a:r>
            <a:r>
              <a:rPr lang="en-US" sz="2000" err="1"/>
              <a:t>Keivanloo</a:t>
            </a:r>
            <a:r>
              <a:rPr lang="en-US" sz="2000"/>
              <a:t>, B. </a:t>
            </a:r>
            <a:r>
              <a:rPr lang="en-US" sz="2000" err="1"/>
              <a:t>Upahyaya</a:t>
            </a:r>
            <a:r>
              <a:rPr lang="en-US" sz="2000"/>
              <a:t> and J. Ng, "An intelligent framework for auto-filling web forms from different web applications," International Journal of Business Process Integration and Management, vol. 8, no. 1, p. 16, 2017. 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[9]  W. Metellus , S. </a:t>
            </a:r>
            <a:r>
              <a:rPr lang="en-US" sz="2000" err="1"/>
              <a:t>Balireddi</a:t>
            </a:r>
            <a:r>
              <a:rPr lang="en-US" sz="2000"/>
              <a:t>, M. </a:t>
            </a:r>
            <a:r>
              <a:rPr lang="en-US" sz="2000" err="1"/>
              <a:t>Maelzer</a:t>
            </a:r>
            <a:r>
              <a:rPr lang="en-US" sz="2000"/>
              <a:t>, M. </a:t>
            </a:r>
            <a:r>
              <a:rPr lang="en-US" sz="2000" err="1"/>
              <a:t>Ganaba</a:t>
            </a:r>
            <a:r>
              <a:rPr lang="en-US" sz="2000"/>
              <a:t> and E. Shiroma, "Artificial Intelligence Agent for Contextual Guidance in Form Filling," 20 2024 2024. [Online]. Available: https://www.tdcommons.org/dpubs_series/7575. [Accessed </a:t>
            </a:r>
            <a:r>
              <a:rPr lang="en-US" sz="2000" err="1"/>
              <a:t>january</a:t>
            </a:r>
            <a:r>
              <a:rPr lang="en-US" sz="2000"/>
              <a:t> 2025].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[10]  J. Ellery, "Avoiding common mistakes on grant applications," Headteacher Update, vol. 6, p. 98917, 2013. 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[11]  J. Ellery, "Get that funding – avoiding common grant application mistakes," </a:t>
            </a:r>
            <a:r>
              <a:rPr lang="en-US" sz="2000" err="1"/>
              <a:t>SecEd</a:t>
            </a:r>
            <a:r>
              <a:rPr lang="en-US" sz="2000"/>
              <a:t>, vol. 2013, p. 1783, 2013. 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[12]  "6 Steps for avoiding online form abandonment," 2018. [Online]. Available: </a:t>
            </a:r>
            <a:r>
              <a:rPr lang="en-US" sz="2000">
                <a:hlinkClick r:id="rId2"/>
              </a:rPr>
              <a:t>https://themanifest.com/web-design/blog/6-steps-avoid-online-form-abandonment</a:t>
            </a:r>
            <a:r>
              <a:rPr lang="en-US" sz="2000"/>
              <a:t>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[13]   P. Viola and M. Narasimhan, "Learning to extract information from semi-structured text using a discriminative context free grammar," in IGIR '05: Proceedings of the 28th Annual International ACM SIGIR Conference on Research and Development in Information Retrieval, Salvador, Brazil, 2005.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E78E9D-17F4-101A-0766-CC1E96B225F2}"/>
              </a:ext>
            </a:extLst>
          </p:cNvPr>
          <p:cNvSpPr txBox="1"/>
          <p:nvPr/>
        </p:nvSpPr>
        <p:spPr>
          <a:xfrm>
            <a:off x="3049138" y="6371775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tx1"/>
                </a:solidFill>
              </a:rPr>
              <a:t>IT21315282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Kuruppu K.A.V.U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R25-036 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0D3FED77-6FE3-0EA9-8E9E-9EBD1398069F}"/>
              </a:ext>
            </a:extLst>
          </p:cNvPr>
          <p:cNvSpPr txBox="1"/>
          <p:nvPr/>
        </p:nvSpPr>
        <p:spPr>
          <a:xfrm>
            <a:off x="3390490" y="237592"/>
            <a:ext cx="4717136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3734" spc="56">
                <a:solidFill>
                  <a:srgbClr val="3B6A7E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References</a:t>
            </a:r>
          </a:p>
        </p:txBody>
      </p:sp>
      <p:pic>
        <p:nvPicPr>
          <p:cNvPr id="8" name="Picture 7" descr="Blue text on a black background&#10;&#10;Description automatically generated">
            <a:extLst>
              <a:ext uri="{FF2B5EF4-FFF2-40B4-BE49-F238E27FC236}">
                <a16:creationId xmlns:a16="http://schemas.microsoft.com/office/drawing/2014/main" id="{0AB622B6-4052-8A09-3F1D-1709B376F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041"/>
            <a:ext cx="25527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772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70BBD6EA15E94491AE8D0F4A4E9895" ma:contentTypeVersion="17" ma:contentTypeDescription="Create a new document." ma:contentTypeScope="" ma:versionID="83b84aac1e87aec69bd4db090e1f79b9">
  <xsd:schema xmlns:xsd="http://www.w3.org/2001/XMLSchema" xmlns:xs="http://www.w3.org/2001/XMLSchema" xmlns:p="http://schemas.microsoft.com/office/2006/metadata/properties" xmlns:ns3="f80da1b9-f4d9-4514-b23d-300513a523b1" xmlns:ns4="e0e3d82c-99db-4cec-a82e-dba217d9a3f5" targetNamespace="http://schemas.microsoft.com/office/2006/metadata/properties" ma:root="true" ma:fieldsID="1e7c18fd65f5ce174436e4c8786ed783" ns3:_="" ns4:_="">
    <xsd:import namespace="f80da1b9-f4d9-4514-b23d-300513a523b1"/>
    <xsd:import namespace="e0e3d82c-99db-4cec-a82e-dba217d9a3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da1b9-f4d9-4514-b23d-300513a523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e3d82c-99db-4cec-a82e-dba217d9a3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80da1b9-f4d9-4514-b23d-300513a523b1" xsi:nil="true"/>
    <_activity xmlns="f80da1b9-f4d9-4514-b23d-300513a523b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EE94BC-310E-4C28-9E26-142CED0AEB0F}">
  <ds:schemaRefs>
    <ds:schemaRef ds:uri="e0e3d82c-99db-4cec-a82e-dba217d9a3f5"/>
    <ds:schemaRef ds:uri="f80da1b9-f4d9-4514-b23d-300513a523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e0e3d82c-99db-4cec-a82e-dba217d9a3f5"/>
    <ds:schemaRef ds:uri="f80da1b9-f4d9-4514-b23d-300513a523b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{889C8F83-13C4-46AD-997E-1485590F7E9D}tf55661986_win32</Template>
  <TotalTime>174</TotalTime>
  <Words>1105</Words>
  <Application>Microsoft Office PowerPoint</Application>
  <PresentationFormat>Widescreen</PresentationFormat>
  <Paragraphs>164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Adobe Devanagari</vt:lpstr>
      <vt:lpstr>Aptos</vt:lpstr>
      <vt:lpstr>Arial</vt:lpstr>
      <vt:lpstr>Calibri</vt:lpstr>
      <vt:lpstr>Calibri Light</vt:lpstr>
      <vt:lpstr>Cambria</vt:lpstr>
      <vt:lpstr>Montserrat Heavy</vt:lpstr>
      <vt:lpstr>Proxima Nova</vt:lpstr>
      <vt:lpstr>ui-sans-serif</vt:lpstr>
      <vt:lpstr>Wingdings</vt:lpstr>
      <vt:lpstr>Custom</vt:lpstr>
      <vt:lpstr>IT21807480 | Gamage U.R</vt:lpstr>
      <vt:lpstr>INTRODUCTION </vt:lpstr>
      <vt:lpstr>Background</vt:lpstr>
      <vt:lpstr>Research Problem</vt:lpstr>
      <vt:lpstr>Objectives</vt:lpstr>
      <vt:lpstr>PowerPoint Presentation</vt:lpstr>
      <vt:lpstr>System Diagram</vt:lpstr>
      <vt:lpstr>Technologies</vt:lpstr>
      <vt:lpstr>Evidence of completion</vt:lpstr>
      <vt:lpstr>EVIDENCE OF COMPLETION </vt:lpstr>
      <vt:lpstr>Evaluation of rag using Ragas metric</vt:lpstr>
      <vt:lpstr>IT21315282   |   Kuruppu K.A.V.U</vt:lpstr>
      <vt:lpstr>INTEGRATION WITH FORMS</vt:lpstr>
      <vt:lpstr>Research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Kuruppu K.A.V.U it21315282</dc:creator>
  <cp:lastModifiedBy>Kuruppu K.A.V.U it21315282</cp:lastModifiedBy>
  <cp:revision>17</cp:revision>
  <dcterms:created xsi:type="dcterms:W3CDTF">2025-04-01T14:44:16Z</dcterms:created>
  <dcterms:modified xsi:type="dcterms:W3CDTF">2025-09-10T18:12:02Z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0x0101001470BBD6EA15E94491AE8D0F4A4E9895</vt:lpwstr>
  </property>
  <property fmtid="{D5CDD505-2E9C-101B-9397-08002B2CF9AE}" pid="3" name="MediaServiceImageTags">
    <vt:lpwstr/>
  </property>
</Properties>
</file>